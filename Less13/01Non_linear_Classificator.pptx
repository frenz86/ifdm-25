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99" r:id="rId3"/>
    <p:sldId id="301" r:id="rId4"/>
    <p:sldId id="302" r:id="rId5"/>
    <p:sldId id="303" r:id="rId6"/>
    <p:sldId id="304" r:id="rId7"/>
    <p:sldId id="305" r:id="rId8"/>
    <p:sldId id="306" r:id="rId9"/>
    <p:sldId id="307" r:id="rId10"/>
    <p:sldId id="309" r:id="rId11"/>
    <p:sldId id="308" r:id="rId12"/>
    <p:sldId id="310" r:id="rId13"/>
    <p:sldId id="300" r:id="rId14"/>
  </p:sldIdLst>
  <p:sldSz cx="10058400" cy="7772400"/>
  <p:notesSz cx="10058400" cy="77724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57" d="100"/>
          <a:sy n="57" d="100"/>
        </p:scale>
        <p:origin x="370" y="3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7" Type="http://schemas.openxmlformats.org/officeDocument/2006/relationships/image" Target="cid:image002.png@01D9F218.17322740" TargetMode="External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5.emf"/><Relationship Id="rId4" Type="http://schemas.openxmlformats.org/officeDocument/2006/relationships/hyperlink" Target="http://www.bigdata-lab.it/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4380" y="2409444"/>
            <a:ext cx="8549640" cy="1632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02920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80076" y="1787652"/>
            <a:ext cx="4375404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1257300" y="2454464"/>
            <a:ext cx="7543800" cy="1523494"/>
          </a:xfrm>
        </p:spPr>
        <p:txBody>
          <a:bodyPr anchor="b"/>
          <a:lstStyle>
            <a:lvl1pPr algn="ctr">
              <a:defRPr sz="4950"/>
            </a:lvl1pPr>
          </a:lstStyle>
          <a:p>
            <a:r>
              <a:rPr lang="it-IT"/>
              <a:t>Fare clic per modificare lo stile del titolo</a:t>
            </a: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1257300" y="4082310"/>
            <a:ext cx="7543800" cy="304699"/>
          </a:xfrm>
        </p:spPr>
        <p:txBody>
          <a:bodyPr/>
          <a:lstStyle>
            <a:lvl1pPr marL="0" indent="0" algn="ctr">
              <a:buNone/>
              <a:defRPr sz="1980"/>
            </a:lvl1pPr>
            <a:lvl2pPr marL="377190" indent="0" algn="ctr">
              <a:buNone/>
              <a:defRPr sz="1650"/>
            </a:lvl2pPr>
            <a:lvl3pPr marL="754380" indent="0" algn="ctr">
              <a:buNone/>
              <a:defRPr sz="1485"/>
            </a:lvl3pPr>
            <a:lvl4pPr marL="1131570" indent="0" algn="ctr">
              <a:buNone/>
              <a:defRPr sz="1320"/>
            </a:lvl4pPr>
            <a:lvl5pPr marL="1508760" indent="0" algn="ctr">
              <a:buNone/>
              <a:defRPr sz="1320"/>
            </a:lvl5pPr>
            <a:lvl6pPr marL="1885950" indent="0" algn="ctr">
              <a:buNone/>
              <a:defRPr sz="1320"/>
            </a:lvl6pPr>
            <a:lvl7pPr marL="2263140" indent="0" algn="ctr">
              <a:buNone/>
              <a:defRPr sz="1320"/>
            </a:lvl7pPr>
            <a:lvl8pPr marL="2640330" indent="0" algn="ctr">
              <a:buNone/>
              <a:defRPr sz="1320"/>
            </a:lvl8pPr>
            <a:lvl9pPr marL="3017520" indent="0" algn="ctr">
              <a:buNone/>
              <a:defRPr sz="132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>
          <a:xfrm>
            <a:off x="502920" y="7228332"/>
            <a:ext cx="2313432" cy="276999"/>
          </a:xfrm>
        </p:spPr>
        <p:txBody>
          <a:bodyPr/>
          <a:lstStyle/>
          <a:p>
            <a:fld id="{D2250143-E775-4994-885D-33313B6EC012}" type="datetimeFigureOut">
              <a:rPr lang="it-IT" smtClean="0"/>
              <a:t>09/11/2024</a:t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>
          <a:xfrm>
            <a:off x="3419856" y="7228332"/>
            <a:ext cx="3218688" cy="276999"/>
          </a:xfrm>
        </p:spPr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>
          <a:xfrm>
            <a:off x="7242048" y="7228332"/>
            <a:ext cx="2313432" cy="276999"/>
          </a:xfrm>
        </p:spPr>
        <p:txBody>
          <a:bodyPr/>
          <a:lstStyle/>
          <a:p>
            <a:fld id="{F890480C-40B3-4647-B416-D9F1A14A0C17}" type="slidenum">
              <a:rPr lang="it-IT" smtClean="0"/>
              <a:t>‹N›</a:t>
            </a:fld>
            <a:endParaRPr lang="it-IT"/>
          </a:p>
        </p:txBody>
      </p:sp>
      <p:pic>
        <p:nvPicPr>
          <p:cNvPr id="7" name="Immagine 6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0599" r="19705" b="1073"/>
          <a:stretch/>
        </p:blipFill>
        <p:spPr>
          <a:xfrm>
            <a:off x="-65957" y="-5926"/>
            <a:ext cx="10190313" cy="7814871"/>
          </a:xfrm>
          <a:prstGeom prst="rect">
            <a:avLst/>
          </a:prstGeom>
        </p:spPr>
      </p:pic>
      <p:pic>
        <p:nvPicPr>
          <p:cNvPr id="12" name="Immagine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15" y="1313568"/>
            <a:ext cx="2789740" cy="2028601"/>
          </a:xfrm>
          <a:prstGeom prst="rect">
            <a:avLst/>
          </a:prstGeom>
        </p:spPr>
      </p:pic>
      <p:pic>
        <p:nvPicPr>
          <p:cNvPr id="14" name="Immagine 13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874" y="2935536"/>
            <a:ext cx="2693267" cy="1958450"/>
          </a:xfrm>
          <a:prstGeom prst="rect">
            <a:avLst/>
          </a:prstGeom>
        </p:spPr>
      </p:pic>
      <p:sp>
        <p:nvSpPr>
          <p:cNvPr id="16" name="CasellaDiTesto 15"/>
          <p:cNvSpPr txBox="1"/>
          <p:nvPr userDrawn="1"/>
        </p:nvSpPr>
        <p:spPr>
          <a:xfrm>
            <a:off x="1047566" y="7224732"/>
            <a:ext cx="7932613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754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85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“Anticipare la crescita con le nuove competenze sui Big Data” Operazione Rif. PA 2023-19167/RER approvata</a:t>
            </a:r>
            <a:r>
              <a:rPr lang="it-IT" sz="1485" b="0" i="0" u="none" strike="noStrike" kern="1200" baseline="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 </a:t>
            </a:r>
            <a:r>
              <a:rPr lang="it-IT" sz="1485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con DGR</a:t>
            </a:r>
          </a:p>
          <a:p>
            <a:pPr marL="0" marR="0" lvl="0" indent="0" algn="ctr" defTabSz="7543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it-IT" sz="1485" b="0" i="0" u="none" strike="noStrike" kern="1200" baseline="300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n° 843 del 29 maggio 2023 e co-finanziata dal Fondo Sociale Europeo Plus 2021-2027 Regione Emilia-Romagna</a:t>
            </a:r>
          </a:p>
          <a:p>
            <a:endParaRPr lang="it-IT" sz="1485" dirty="0"/>
          </a:p>
        </p:txBody>
      </p:sp>
      <p:pic>
        <p:nvPicPr>
          <p:cNvPr id="13" name="Immagine 12">
            <a:extLst>
              <a:ext uri="{FF2B5EF4-FFF2-40B4-BE49-F238E27FC236}">
                <a16:creationId xmlns:a16="http://schemas.microsoft.com/office/drawing/2014/main" id="{538F6A45-F2B6-5475-7B75-CC0087C05A2B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2819413" y="314922"/>
            <a:ext cx="4519207" cy="1196854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7D89FFE1-95DF-29AF-90B8-0ACCA5840B3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576028" y="6063192"/>
            <a:ext cx="4906345" cy="109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2715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tangolo 9"/>
          <p:cNvSpPr/>
          <p:nvPr userDrawn="1"/>
        </p:nvSpPr>
        <p:spPr>
          <a:xfrm>
            <a:off x="1879962" y="1842347"/>
            <a:ext cx="6813368" cy="3947886"/>
          </a:xfrm>
          <a:prstGeom prst="rect">
            <a:avLst/>
          </a:prstGeom>
          <a:solidFill>
            <a:srgbClr val="009F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sz="1485"/>
          </a:p>
        </p:txBody>
      </p:sp>
      <p:pic>
        <p:nvPicPr>
          <p:cNvPr id="11" name="Immagine 10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98" t="30599" r="19705" b="1073"/>
          <a:stretch/>
        </p:blipFill>
        <p:spPr>
          <a:xfrm>
            <a:off x="-65957" y="-5926"/>
            <a:ext cx="10190313" cy="7814871"/>
          </a:xfrm>
          <a:prstGeom prst="rect">
            <a:avLst/>
          </a:prstGeom>
        </p:spPr>
      </p:pic>
      <p:sp>
        <p:nvSpPr>
          <p:cNvPr id="12" name="Rettangolo 11"/>
          <p:cNvSpPr/>
          <p:nvPr userDrawn="1"/>
        </p:nvSpPr>
        <p:spPr>
          <a:xfrm>
            <a:off x="0" y="2778805"/>
            <a:ext cx="5874818" cy="2422968"/>
          </a:xfrm>
          <a:prstGeom prst="rect">
            <a:avLst/>
          </a:prstGeom>
          <a:solidFill>
            <a:schemeClr val="bg1"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 sz="1650" b="1" dirty="0">
                <a:solidFill>
                  <a:schemeClr val="tx1"/>
                </a:solidFill>
              </a:rPr>
              <a:t>ARTIFICIAL INTELLIGENCE &amp; MACHINE LEARNING</a:t>
            </a:r>
          </a:p>
          <a:p>
            <a:pPr algn="ctr"/>
            <a:r>
              <a:rPr lang="it-IT" sz="907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Operazione Rif. PA 2023-19167/RER/10/1, “ANTICIPARE LA CRESCITA CON LE NUOVE COMPETENZE SUI BIG DATA”, approvata dalla Regione Emilia-Romagna con DGR n° 843 del 29/05/2023 e co-finanziata dal Fondo Sociale Europeo Plus 2021-2027</a:t>
            </a:r>
          </a:p>
        </p:txBody>
      </p:sp>
      <p:pic>
        <p:nvPicPr>
          <p:cNvPr id="15" name="Immagin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7387" y="2663365"/>
            <a:ext cx="3171013" cy="2305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971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8487" y="994180"/>
            <a:ext cx="2828925" cy="3886200"/>
          </a:xfrm>
          <a:prstGeom prst="rect">
            <a:avLst/>
          </a:prstGeom>
        </p:spPr>
      </p:pic>
      <p:sp>
        <p:nvSpPr>
          <p:cNvPr id="7" name="Rettangolo 6"/>
          <p:cNvSpPr/>
          <p:nvPr userDrawn="1"/>
        </p:nvSpPr>
        <p:spPr>
          <a:xfrm>
            <a:off x="387794" y="3770706"/>
            <a:ext cx="6647027" cy="110799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l" rtl="0"/>
            <a:r>
              <a:rPr lang="it-IT" sz="3300" b="1" i="0" u="none" strike="noStrik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Dosis" panose="02010503020202060003" pitchFamily="2" charset="0"/>
              </a:rPr>
              <a:t>GUARDA AVANTI</a:t>
            </a:r>
          </a:p>
          <a:p>
            <a:pPr marR="0" algn="l" rtl="0"/>
            <a:r>
              <a:rPr lang="it-IT" sz="2640" b="1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  <a:t>Big Data, </a:t>
            </a:r>
            <a:r>
              <a:rPr lang="it-IT" sz="2640" b="0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  <a:t>nuove competenze</a:t>
            </a:r>
            <a:br>
              <a:rPr lang="it-IT" sz="2640" b="0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</a:br>
            <a:r>
              <a:rPr lang="it-IT" sz="2640" b="0" i="0" u="none" strike="noStrike" baseline="30000" dirty="0">
                <a:solidFill>
                  <a:srgbClr val="000000"/>
                </a:solidFill>
                <a:latin typeface="Dosis" panose="02010503020202060003" pitchFamily="2" charset="0"/>
              </a:rPr>
              <a:t>per nuove professioni.</a:t>
            </a:r>
            <a:endParaRPr lang="it-IT" sz="2640" dirty="0"/>
          </a:p>
        </p:txBody>
      </p:sp>
      <p:pic>
        <p:nvPicPr>
          <p:cNvPr id="12" name="Immagine 11"/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7172"/>
          <a:stretch/>
        </p:blipFill>
        <p:spPr>
          <a:xfrm>
            <a:off x="6671263" y="2683298"/>
            <a:ext cx="3390167" cy="2600529"/>
          </a:xfrm>
          <a:prstGeom prst="rect">
            <a:avLst/>
          </a:prstGeom>
        </p:spPr>
      </p:pic>
      <p:sp>
        <p:nvSpPr>
          <p:cNvPr id="14" name="Rettangolo 13"/>
          <p:cNvSpPr/>
          <p:nvPr userDrawn="1"/>
        </p:nvSpPr>
        <p:spPr>
          <a:xfrm>
            <a:off x="387794" y="5136899"/>
            <a:ext cx="6647027" cy="4985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R="0" algn="l" rtl="0"/>
            <a:r>
              <a:rPr lang="it-IT" sz="2640" b="0" i="0" u="none" strike="noStrik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Dosis" panose="02010503020202060003" pitchFamily="2" charset="0"/>
                <a:hlinkClick r:id="rId4"/>
              </a:rPr>
              <a:t>www.bigdata-lab.it</a:t>
            </a:r>
            <a:r>
              <a:rPr lang="it-IT" sz="2640" b="0" i="0" u="none" strike="noStrike" baseline="30000" dirty="0">
                <a:solidFill>
                  <a:schemeClr val="tx1">
                    <a:lumMod val="95000"/>
                    <a:lumOff val="5000"/>
                  </a:schemeClr>
                </a:solidFill>
                <a:latin typeface="Dosis" panose="02010503020202060003" pitchFamily="2" charset="0"/>
              </a:rPr>
              <a:t> </a:t>
            </a:r>
            <a:endParaRPr lang="it-IT" sz="1980" b="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81A18870-337B-368D-FE74-6C93EBFDAC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3403" y="5935127"/>
            <a:ext cx="6142943" cy="1369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Immagine 1">
            <a:extLst>
              <a:ext uri="{FF2B5EF4-FFF2-40B4-BE49-F238E27FC236}">
                <a16:creationId xmlns:a16="http://schemas.microsoft.com/office/drawing/2014/main" id="{D7D4D75D-E38C-DE25-4A21-49FFD32A101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2715" y="406339"/>
            <a:ext cx="4975640" cy="131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230547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2920" y="310896"/>
            <a:ext cx="9052560" cy="1243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02920" y="1787652"/>
            <a:ext cx="9052560" cy="51297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19856" y="7228332"/>
            <a:ext cx="3218688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02920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11/9/2024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242048" y="7228332"/>
            <a:ext cx="2313432" cy="388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gif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1907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7351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FC92E11-6015-A017-CFDA-DF9EF73C214E}"/>
              </a:ext>
            </a:extLst>
          </p:cNvPr>
          <p:cNvSpPr txBox="1"/>
          <p:nvPr/>
        </p:nvSpPr>
        <p:spPr>
          <a:xfrm>
            <a:off x="342900" y="1905000"/>
            <a:ext cx="9372600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b="1" dirty="0"/>
              <a:t>Linear vs. Non-Linear Classification</a:t>
            </a:r>
            <a:endParaRPr lang="it-IT" sz="8000" b="1" dirty="0"/>
          </a:p>
        </p:txBody>
      </p:sp>
    </p:spTree>
    <p:extLst>
      <p:ext uri="{BB962C8B-B14F-4D97-AF65-F5344CB8AC3E}">
        <p14:creationId xmlns:p14="http://schemas.microsoft.com/office/powerpoint/2010/main" val="17573253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D1E094-9250-0633-C969-9A3861A5D4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092558"/>
            <a:ext cx="8686800" cy="5587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6328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708062-3F06-C335-9B16-6F8DCBCCD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4468" y="0"/>
            <a:ext cx="7179087" cy="777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364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947972C-75D0-5C46-1C86-858C7ED767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695" y="151996"/>
            <a:ext cx="7059010" cy="411537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7D63D9F-5B39-92A7-B484-4CA244DC3A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5998" y="4405260"/>
            <a:ext cx="6206404" cy="3357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8835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D8A1D-2DD4-E46C-7A79-1E32B31BB5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73" y="304800"/>
            <a:ext cx="9943253" cy="426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42073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1BACC37-8B0D-C85D-0FC0-BE8A789934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28600"/>
            <a:ext cx="8508691" cy="6629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32142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337CE02-AE7D-620C-A5D3-87A82CBC68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6182"/>
            <a:ext cx="7798496" cy="637965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EA643957-44EE-655B-AD60-AE9D03C04B0E}"/>
              </a:ext>
            </a:extLst>
          </p:cNvPr>
          <p:cNvSpPr txBox="1"/>
          <p:nvPr/>
        </p:nvSpPr>
        <p:spPr>
          <a:xfrm>
            <a:off x="457200" y="49430"/>
            <a:ext cx="93726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8000" b="1" dirty="0"/>
              <a:t>DECISION TREE</a:t>
            </a:r>
            <a:endParaRPr lang="it-IT" sz="8000" b="1" dirty="0"/>
          </a:p>
        </p:txBody>
      </p:sp>
    </p:spTree>
    <p:extLst>
      <p:ext uri="{BB962C8B-B14F-4D97-AF65-F5344CB8AC3E}">
        <p14:creationId xmlns:p14="http://schemas.microsoft.com/office/powerpoint/2010/main" val="1072371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diagramma, linea, testo, Diagramma&#10;&#10;Descrizione generata automaticamente">
            <a:extLst>
              <a:ext uri="{FF2B5EF4-FFF2-40B4-BE49-F238E27FC236}">
                <a16:creationId xmlns:a16="http://schemas.microsoft.com/office/drawing/2014/main" id="{4FD89594-E57F-9EED-DCEA-C873B6DCDC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4343400"/>
            <a:ext cx="8915400" cy="3559791"/>
          </a:xfrm>
          <a:prstGeom prst="rect">
            <a:avLst/>
          </a:prstGeom>
        </p:spPr>
      </p:pic>
      <p:pic>
        <p:nvPicPr>
          <p:cNvPr id="5" name="Immagine 4" descr="Immagine che contiene diagramma, Disegno tecnico, Piano, linea&#10;&#10;Descrizione generata automaticamente">
            <a:extLst>
              <a:ext uri="{FF2B5EF4-FFF2-40B4-BE49-F238E27FC236}">
                <a16:creationId xmlns:a16="http://schemas.microsoft.com/office/drawing/2014/main" id="{D9FDB93E-C622-B3E5-B552-A18891F402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0" y="152400"/>
            <a:ext cx="8000999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7244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4BF219D-7E09-3EC2-565C-D87B1F4806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31" y="609600"/>
            <a:ext cx="9931137" cy="655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582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magine 2" descr="Immagine che contiene testo, schermata, diagramma, Parallelo&#10;&#10;Descrizione generata automaticamente">
            <a:extLst>
              <a:ext uri="{FF2B5EF4-FFF2-40B4-BE49-F238E27FC236}">
                <a16:creationId xmlns:a16="http://schemas.microsoft.com/office/drawing/2014/main" id="{14E58FBB-3AEC-9388-835B-6FC7B036F0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647"/>
          <a:stretch/>
        </p:blipFill>
        <p:spPr>
          <a:xfrm>
            <a:off x="1219200" y="-27272"/>
            <a:ext cx="7162800" cy="7587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0280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254911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7</Words>
  <Application>Microsoft Office PowerPoint</Application>
  <PresentationFormat>Personalizzato</PresentationFormat>
  <Paragraphs>2</Paragraphs>
  <Slides>13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2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13</vt:i4>
      </vt:variant>
    </vt:vector>
  </HeadingPairs>
  <TitlesOfParts>
    <vt:vector size="16" baseType="lpstr">
      <vt:lpstr>Calibri</vt:lpstr>
      <vt:lpstr>Dosis</vt:lpstr>
      <vt:lpstr>Office Theme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- 1_IOT_INtro.pptx</dc:title>
  <dc:creator>Daniele</dc:creator>
  <cp:lastModifiedBy>Daniele Grotti</cp:lastModifiedBy>
  <cp:revision>6</cp:revision>
  <dcterms:created xsi:type="dcterms:W3CDTF">2023-10-17T17:23:06Z</dcterms:created>
  <dcterms:modified xsi:type="dcterms:W3CDTF">2024-11-09T06:35:57Z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2020-11-30T00:00:00Z</vt:filetime>
  </property>
  <property fmtid="{D5CDD505-2E9C-101B-9397-08002B2CF9AE}" pid="3" name="LastSaved">
    <vt:filetime>2023-10-17T00:00:00Z</vt:filetime>
  </property>
  <property fmtid="{D5CDD505-2E9C-101B-9397-08002B2CF9AE}" pid="4" name="MSIP_Label_defa4170-0d19-0005-0004-bc88714345d2_Enabled">
    <vt:lpwstr>true</vt:lpwstr>
  </property>
  <property fmtid="{D5CDD505-2E9C-101B-9397-08002B2CF9AE}" pid="5" name="MSIP_Label_defa4170-0d19-0005-0004-bc88714345d2_SetDate">
    <vt:lpwstr>2024-04-11T06:42:57Z</vt:lpwstr>
  </property>
  <property fmtid="{D5CDD505-2E9C-101B-9397-08002B2CF9AE}" pid="6" name="MSIP_Label_defa4170-0d19-0005-0004-bc88714345d2_Method">
    <vt:lpwstr>Standard</vt:lpwstr>
  </property>
  <property fmtid="{D5CDD505-2E9C-101B-9397-08002B2CF9AE}" pid="7" name="MSIP_Label_defa4170-0d19-0005-0004-bc88714345d2_Name">
    <vt:lpwstr>defa4170-0d19-0005-0004-bc88714345d2</vt:lpwstr>
  </property>
  <property fmtid="{D5CDD505-2E9C-101B-9397-08002B2CF9AE}" pid="8" name="MSIP_Label_defa4170-0d19-0005-0004-bc88714345d2_SiteId">
    <vt:lpwstr>610de372-5ad4-43e8-a170-e1aaab8af83a</vt:lpwstr>
  </property>
  <property fmtid="{D5CDD505-2E9C-101B-9397-08002B2CF9AE}" pid="9" name="MSIP_Label_defa4170-0d19-0005-0004-bc88714345d2_ActionId">
    <vt:lpwstr>4222b6ea-a5a4-4ae0-8f96-6ec48bcd5148</vt:lpwstr>
  </property>
  <property fmtid="{D5CDD505-2E9C-101B-9397-08002B2CF9AE}" pid="10" name="MSIP_Label_defa4170-0d19-0005-0004-bc88714345d2_ContentBits">
    <vt:lpwstr>0</vt:lpwstr>
  </property>
</Properties>
</file>