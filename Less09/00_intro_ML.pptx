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25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4.jpg" ContentType="image/jpg"/>
  <Override PartName="/ppt/media/image59.jpg" ContentType="image/jpg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8.jpg" ContentType="image/jpg"/>
  <Override PartName="/ppt/media/image69.jpg" ContentType="image/jpg"/>
  <Override PartName="/ppt/media/image70.jpg" ContentType="image/jpg"/>
  <Override PartName="/ppt/media/image71.jpg" ContentType="image/jpg"/>
  <Override PartName="/ppt/media/image74.jpg" ContentType="image/jpg"/>
  <Override PartName="/ppt/media/image75.jpg" ContentType="image/jpg"/>
  <Override PartName="/ppt/media/image76.jpg" ContentType="image/jpg"/>
  <Override PartName="/ppt/media/image78.jpg" ContentType="image/jpg"/>
  <Override PartName="/ppt/media/image79.jpg" ContentType="image/jpg"/>
  <Override PartName="/ppt/media/image80.jpg" ContentType="image/jpg"/>
  <Override PartName="/ppt/media/image81.jpg" ContentType="image/jpg"/>
  <Override PartName="/ppt/media/image82.jpg" ContentType="image/jpg"/>
  <Override PartName="/ppt/media/image83.jpg" ContentType="image/jpg"/>
  <Override PartName="/ppt/media/image84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1" r:id="rId3"/>
    <p:sldId id="257" r:id="rId4"/>
    <p:sldId id="314" r:id="rId5"/>
    <p:sldId id="315" r:id="rId6"/>
    <p:sldId id="258" r:id="rId7"/>
    <p:sldId id="316" r:id="rId8"/>
    <p:sldId id="317" r:id="rId9"/>
    <p:sldId id="318" r:id="rId10"/>
    <p:sldId id="319" r:id="rId11"/>
    <p:sldId id="320" r:id="rId12"/>
    <p:sldId id="312" r:id="rId13"/>
    <p:sldId id="325" r:id="rId14"/>
    <p:sldId id="321" r:id="rId15"/>
    <p:sldId id="323" r:id="rId16"/>
    <p:sldId id="322" r:id="rId17"/>
    <p:sldId id="259" r:id="rId18"/>
    <p:sldId id="307" r:id="rId19"/>
    <p:sldId id="260" r:id="rId20"/>
    <p:sldId id="262" r:id="rId21"/>
    <p:sldId id="263" r:id="rId22"/>
    <p:sldId id="264" r:id="rId23"/>
    <p:sldId id="296" r:id="rId24"/>
    <p:sldId id="301" r:id="rId25"/>
    <p:sldId id="309" r:id="rId26"/>
    <p:sldId id="302" r:id="rId27"/>
    <p:sldId id="303" r:id="rId28"/>
    <p:sldId id="311" r:id="rId29"/>
    <p:sldId id="297" r:id="rId30"/>
    <p:sldId id="305" r:id="rId31"/>
    <p:sldId id="306" r:id="rId32"/>
    <p:sldId id="304" r:id="rId33"/>
    <p:sldId id="265" r:id="rId34"/>
    <p:sldId id="266" r:id="rId35"/>
    <p:sldId id="267" r:id="rId36"/>
    <p:sldId id="313" r:id="rId37"/>
    <p:sldId id="268" r:id="rId38"/>
    <p:sldId id="308" r:id="rId39"/>
    <p:sldId id="269" r:id="rId40"/>
    <p:sldId id="326" r:id="rId41"/>
    <p:sldId id="270" r:id="rId42"/>
    <p:sldId id="299" r:id="rId43"/>
    <p:sldId id="300" r:id="rId44"/>
    <p:sldId id="298" r:id="rId45"/>
    <p:sldId id="271" r:id="rId46"/>
    <p:sldId id="272" r:id="rId47"/>
    <p:sldId id="273" r:id="rId48"/>
    <p:sldId id="274" r:id="rId49"/>
    <p:sldId id="275" r:id="rId50"/>
    <p:sldId id="276" r:id="rId51"/>
    <p:sldId id="277" r:id="rId52"/>
    <p:sldId id="278" r:id="rId53"/>
    <p:sldId id="279" r:id="rId54"/>
    <p:sldId id="310" r:id="rId55"/>
    <p:sldId id="280" r:id="rId56"/>
    <p:sldId id="281" r:id="rId57"/>
    <p:sldId id="282" r:id="rId58"/>
    <p:sldId id="324" r:id="rId59"/>
    <p:sldId id="283" r:id="rId60"/>
    <p:sldId id="284" r:id="rId61"/>
    <p:sldId id="286" r:id="rId62"/>
    <p:sldId id="287" r:id="rId63"/>
    <p:sldId id="288" r:id="rId64"/>
    <p:sldId id="289" r:id="rId65"/>
    <p:sldId id="290" r:id="rId66"/>
    <p:sldId id="292" r:id="rId67"/>
  </p:sldIdLst>
  <p:sldSz cx="10058400" cy="7772400"/>
  <p:notesSz cx="10058400" cy="77724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4660"/>
  </p:normalViewPr>
  <p:slideViewPr>
    <p:cSldViewPr>
      <p:cViewPr varScale="1">
        <p:scale>
          <a:sx n="37" d="100"/>
          <a:sy n="37" d="100"/>
        </p:scale>
        <p:origin x="27" y="5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cid:image002.png@01D9F218.17322740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5.emf"/><Relationship Id="rId4" Type="http://schemas.openxmlformats.org/officeDocument/2006/relationships/hyperlink" Target="http://www.bigdata-lab.it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57300" y="2454464"/>
            <a:ext cx="7543800" cy="1523494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304699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502920" y="7228332"/>
            <a:ext cx="2313432" cy="276999"/>
          </a:xfrm>
        </p:spPr>
        <p:txBody>
          <a:bodyPr/>
          <a:lstStyle/>
          <a:p>
            <a:fld id="{D2250143-E775-4994-885D-33313B6EC012}" type="datetimeFigureOut">
              <a:rPr lang="it-IT" smtClean="0"/>
              <a:t>02/03/2025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419856" y="7228332"/>
            <a:ext cx="3218688" cy="276999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7242048" y="7228332"/>
            <a:ext cx="2313432" cy="276999"/>
          </a:xfrm>
        </p:spPr>
        <p:txBody>
          <a:bodyPr/>
          <a:lstStyle/>
          <a:p>
            <a:fld id="{F890480C-40B3-4647-B416-D9F1A14A0C17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30599" r="19705" b="1073"/>
          <a:stretch/>
        </p:blipFill>
        <p:spPr>
          <a:xfrm>
            <a:off x="-65957" y="-5926"/>
            <a:ext cx="10190313" cy="7814871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5" y="1313568"/>
            <a:ext cx="2789740" cy="2028601"/>
          </a:xfrm>
          <a:prstGeom prst="rect">
            <a:avLst/>
          </a:prstGeom>
        </p:spPr>
      </p:pic>
      <p:pic>
        <p:nvPicPr>
          <p:cNvPr id="14" name="Immagin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74" y="2935536"/>
            <a:ext cx="2693267" cy="1958450"/>
          </a:xfrm>
          <a:prstGeom prst="rect">
            <a:avLst/>
          </a:prstGeom>
        </p:spPr>
      </p:pic>
      <p:sp>
        <p:nvSpPr>
          <p:cNvPr id="16" name="CasellaDiTesto 15"/>
          <p:cNvSpPr txBox="1"/>
          <p:nvPr userDrawn="1"/>
        </p:nvSpPr>
        <p:spPr>
          <a:xfrm>
            <a:off x="1047566" y="7224732"/>
            <a:ext cx="7932613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54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85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“Anticipare la crescita con le nuove competenze sui Big Data” Operazione Rif. PA 2023-19167/RER approvata</a:t>
            </a:r>
            <a:r>
              <a:rPr lang="it-IT" sz="1485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485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 DGR</a:t>
            </a:r>
          </a:p>
          <a:p>
            <a:pPr marL="0" marR="0" lvl="0" indent="0" algn="ctr" defTabSz="754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85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n° 843 del 29 maggio 2023 e co-finanziata dal Fondo Sociale Europeo Plus 2021-2027 Regione Emilia-Romagna</a:t>
            </a:r>
          </a:p>
          <a:p>
            <a:endParaRPr lang="it-IT" sz="1485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538F6A45-F2B6-5475-7B75-CC0087C05A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19413" y="314922"/>
            <a:ext cx="4519207" cy="119685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7D89FFE1-95DF-29AF-90B8-0ACCA5840B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576028" y="6063192"/>
            <a:ext cx="4906345" cy="10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88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 userDrawn="1"/>
        </p:nvSpPr>
        <p:spPr>
          <a:xfrm>
            <a:off x="1879962" y="1842347"/>
            <a:ext cx="6813368" cy="3947886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85"/>
          </a:p>
        </p:txBody>
      </p:sp>
      <p:pic>
        <p:nvPicPr>
          <p:cNvPr id="11" name="Immagin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30599" r="19705" b="1073"/>
          <a:stretch/>
        </p:blipFill>
        <p:spPr>
          <a:xfrm>
            <a:off x="-65957" y="-5926"/>
            <a:ext cx="10190313" cy="7814871"/>
          </a:xfrm>
          <a:prstGeom prst="rect">
            <a:avLst/>
          </a:prstGeom>
        </p:spPr>
      </p:pic>
      <p:sp>
        <p:nvSpPr>
          <p:cNvPr id="12" name="Rettangolo 11"/>
          <p:cNvSpPr/>
          <p:nvPr userDrawn="1"/>
        </p:nvSpPr>
        <p:spPr>
          <a:xfrm>
            <a:off x="0" y="2778805"/>
            <a:ext cx="5874818" cy="2422968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50" b="1" dirty="0">
                <a:solidFill>
                  <a:schemeClr val="tx1"/>
                </a:solidFill>
              </a:rPr>
              <a:t>ARTIFICIAL INTELLIGENCE &amp; MACHINE LEARNING</a:t>
            </a:r>
          </a:p>
          <a:p>
            <a:pPr algn="ctr"/>
            <a:r>
              <a:rPr lang="it-IT" sz="907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Operazione Rif. PA 2023-19167/RER/10/1, “ANTICIPARE LA CRESCITA CON LE NUOVE COMPETENZE SUI BIG DATA”, approvata dalla Regione Emilia-Romagna con DGR n° 843 del 29/05/2023 e co-finanziata dal Fondo Sociale Europeo Plus 2021-2027</a:t>
            </a: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387" y="2663365"/>
            <a:ext cx="3171013" cy="230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20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87" y="994180"/>
            <a:ext cx="2828925" cy="3886200"/>
          </a:xfrm>
          <a:prstGeom prst="rect">
            <a:avLst/>
          </a:prstGeom>
        </p:spPr>
      </p:pic>
      <p:sp>
        <p:nvSpPr>
          <p:cNvPr id="7" name="Rettangolo 6"/>
          <p:cNvSpPr/>
          <p:nvPr userDrawn="1"/>
        </p:nvSpPr>
        <p:spPr>
          <a:xfrm>
            <a:off x="387794" y="3770706"/>
            <a:ext cx="664702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l" rtl="0"/>
            <a:r>
              <a:rPr lang="it-IT" sz="3300" b="1" i="0" u="none" strike="noStrik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Dosis" panose="02010503020202060003" pitchFamily="2" charset="0"/>
              </a:rPr>
              <a:t>GUARDA AVANTI</a:t>
            </a:r>
          </a:p>
          <a:p>
            <a:pPr marR="0" algn="l" rtl="0"/>
            <a:r>
              <a:rPr lang="it-IT" sz="2640" b="1" i="0" u="none" strike="noStrike" baseline="30000" dirty="0">
                <a:solidFill>
                  <a:srgbClr val="000000"/>
                </a:solidFill>
                <a:latin typeface="Dosis" panose="02010503020202060003" pitchFamily="2" charset="0"/>
              </a:rPr>
              <a:t>Big Data, </a:t>
            </a:r>
            <a:r>
              <a:rPr lang="it-IT" sz="2640" b="0" i="0" u="none" strike="noStrike" baseline="30000" dirty="0">
                <a:solidFill>
                  <a:srgbClr val="000000"/>
                </a:solidFill>
                <a:latin typeface="Dosis" panose="02010503020202060003" pitchFamily="2" charset="0"/>
              </a:rPr>
              <a:t>nuove competenze</a:t>
            </a:r>
            <a:br>
              <a:rPr lang="it-IT" sz="2640" b="0" i="0" u="none" strike="noStrike" baseline="30000" dirty="0">
                <a:solidFill>
                  <a:srgbClr val="000000"/>
                </a:solidFill>
                <a:latin typeface="Dosis" panose="02010503020202060003" pitchFamily="2" charset="0"/>
              </a:rPr>
            </a:br>
            <a:r>
              <a:rPr lang="it-IT" sz="2640" b="0" i="0" u="none" strike="noStrike" baseline="30000" dirty="0">
                <a:solidFill>
                  <a:srgbClr val="000000"/>
                </a:solidFill>
                <a:latin typeface="Dosis" panose="02010503020202060003" pitchFamily="2" charset="0"/>
              </a:rPr>
              <a:t>per nuove professioni.</a:t>
            </a:r>
            <a:endParaRPr lang="it-IT" sz="2640" dirty="0"/>
          </a:p>
        </p:txBody>
      </p:sp>
      <p:pic>
        <p:nvPicPr>
          <p:cNvPr id="12" name="Immagine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72"/>
          <a:stretch/>
        </p:blipFill>
        <p:spPr>
          <a:xfrm>
            <a:off x="6671263" y="2683298"/>
            <a:ext cx="3390167" cy="2600529"/>
          </a:xfrm>
          <a:prstGeom prst="rect">
            <a:avLst/>
          </a:prstGeom>
        </p:spPr>
      </p:pic>
      <p:sp>
        <p:nvSpPr>
          <p:cNvPr id="14" name="Rettangolo 13"/>
          <p:cNvSpPr/>
          <p:nvPr userDrawn="1"/>
        </p:nvSpPr>
        <p:spPr>
          <a:xfrm>
            <a:off x="387794" y="5136899"/>
            <a:ext cx="6647027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l" rtl="0"/>
            <a:r>
              <a:rPr lang="it-IT" sz="2640" b="0" i="0" u="none" strike="noStrik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Dosis" panose="02010503020202060003" pitchFamily="2" charset="0"/>
                <a:hlinkClick r:id="rId4"/>
              </a:rPr>
              <a:t>www.bigdata-lab.it</a:t>
            </a:r>
            <a:r>
              <a:rPr lang="it-IT" sz="2640" b="0" i="0" u="none" strike="noStrik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Dosis" panose="02010503020202060003" pitchFamily="2" charset="0"/>
              </a:rPr>
              <a:t> </a:t>
            </a:r>
            <a:endParaRPr lang="it-IT" sz="1980" b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A18870-337B-368D-FE74-6C93EBFDA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403" y="5935127"/>
            <a:ext cx="6142943" cy="136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Immagine 1">
            <a:extLst>
              <a:ext uri="{FF2B5EF4-FFF2-40B4-BE49-F238E27FC236}">
                <a16:creationId xmlns:a16="http://schemas.microsoft.com/office/drawing/2014/main" id="{D7D4D75D-E38C-DE25-4A21-49FFD32A10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715" y="406339"/>
            <a:ext cx="4975640" cy="131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67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5348" y="1607235"/>
            <a:ext cx="2147703" cy="781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936" y="2533947"/>
            <a:ext cx="8550526" cy="291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1.jp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907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35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0058398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31018" cy="2590798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487" y="396888"/>
            <a:ext cx="3833696" cy="1841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900" kern="1200" spc="-15" dirty="0" err="1">
                <a:latin typeface="+mj-lt"/>
                <a:cs typeface="+mj-cs"/>
              </a:rPr>
              <a:t>Definizione</a:t>
            </a:r>
            <a:r>
              <a:rPr lang="en-US" sz="3900" kern="1200" spc="-15" dirty="0">
                <a:latin typeface="+mj-lt"/>
                <a:cs typeface="+mj-cs"/>
              </a:rPr>
              <a:t> </a:t>
            </a:r>
            <a:r>
              <a:rPr lang="en-US" sz="3900" kern="1200" spc="-35" dirty="0">
                <a:latin typeface="+mj-lt"/>
                <a:cs typeface="+mj-cs"/>
              </a:rPr>
              <a:t>di</a:t>
            </a:r>
            <a:r>
              <a:rPr lang="en-US" sz="3900" kern="1200" spc="-5" dirty="0">
                <a:latin typeface="+mj-lt"/>
                <a:cs typeface="+mj-cs"/>
              </a:rPr>
              <a:t> </a:t>
            </a:r>
            <a:r>
              <a:rPr lang="en-US" sz="3900" kern="1200" spc="-25" dirty="0" err="1">
                <a:latin typeface="+mj-lt"/>
                <a:cs typeface="+mj-cs"/>
              </a:rPr>
              <a:t>dati</a:t>
            </a:r>
            <a:endParaRPr lang="en-US" sz="3900" kern="1200" dirty="0">
              <a:latin typeface="+mj-lt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8486" y="3108960"/>
            <a:ext cx="5543714" cy="4094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marR="5080" indent="-228600">
              <a:lnSpc>
                <a:spcPct val="90000"/>
              </a:lnSpc>
              <a:spcBef>
                <a:spcPts val="415"/>
              </a:spcBef>
              <a:buFont typeface="Arial" panose="020B0604020202020204" pitchFamily="34" charset="0"/>
              <a:buChar char="•"/>
              <a:tabLst>
                <a:tab pos="257175" algn="l"/>
              </a:tabLst>
            </a:pPr>
            <a:r>
              <a:rPr lang="en-US" sz="1900" dirty="0"/>
              <a:t>I</a:t>
            </a:r>
            <a:r>
              <a:rPr lang="en-US" sz="1900" spc="5" dirty="0"/>
              <a:t> </a:t>
            </a:r>
            <a:r>
              <a:rPr lang="en-US" sz="1900" spc="-10" dirty="0" err="1"/>
              <a:t>dati</a:t>
            </a:r>
            <a:r>
              <a:rPr lang="en-US" sz="1900" spc="-5" dirty="0"/>
              <a:t> </a:t>
            </a:r>
            <a:r>
              <a:rPr lang="en-US" sz="1900" dirty="0" err="1"/>
              <a:t>sono</a:t>
            </a:r>
            <a:r>
              <a:rPr lang="en-US" sz="1900" spc="20" dirty="0"/>
              <a:t> </a:t>
            </a:r>
            <a:r>
              <a:rPr lang="en-US" sz="1900" spc="-10" dirty="0" err="1"/>
              <a:t>rappresentazioni</a:t>
            </a:r>
            <a:r>
              <a:rPr lang="en-US" sz="1900" spc="-10" dirty="0"/>
              <a:t> </a:t>
            </a:r>
            <a:r>
              <a:rPr lang="en-US" sz="1900" dirty="0" err="1"/>
              <a:t>originarie</a:t>
            </a:r>
            <a:r>
              <a:rPr lang="en-US" sz="1900" dirty="0"/>
              <a:t>,</a:t>
            </a:r>
            <a:r>
              <a:rPr lang="en-US" sz="1900" spc="-5" dirty="0"/>
              <a:t> </a:t>
            </a:r>
            <a:r>
              <a:rPr lang="en-US" sz="1900" spc="5" dirty="0" err="1"/>
              <a:t>cioè</a:t>
            </a:r>
            <a:r>
              <a:rPr lang="en-US" sz="1900" spc="-25" dirty="0"/>
              <a:t> </a:t>
            </a:r>
            <a:r>
              <a:rPr lang="en-US" sz="1900" spc="5" dirty="0"/>
              <a:t>non</a:t>
            </a:r>
            <a:r>
              <a:rPr lang="en-US" sz="1900" spc="20" dirty="0"/>
              <a:t> </a:t>
            </a:r>
            <a:r>
              <a:rPr lang="en-US" sz="1900" spc="-10" dirty="0"/>
              <a:t>interpretate,</a:t>
            </a:r>
            <a:r>
              <a:rPr lang="en-US" sz="1900" spc="-30" dirty="0"/>
              <a:t> </a:t>
            </a:r>
            <a:r>
              <a:rPr lang="en-US" sz="1900" spc="-5" dirty="0"/>
              <a:t>di</a:t>
            </a:r>
            <a:r>
              <a:rPr lang="en-US" sz="1900" spc="15" dirty="0"/>
              <a:t> </a:t>
            </a:r>
            <a:r>
              <a:rPr lang="en-US" sz="1900" dirty="0"/>
              <a:t>un </a:t>
            </a:r>
            <a:r>
              <a:rPr lang="en-US" sz="1900" spc="5" dirty="0"/>
              <a:t> </a:t>
            </a:r>
            <a:r>
              <a:rPr lang="en-US" sz="1900" spc="-10" dirty="0" err="1"/>
              <a:t>fenomeno</a:t>
            </a:r>
            <a:r>
              <a:rPr lang="en-US" sz="1900" spc="-10" dirty="0"/>
              <a:t>,</a:t>
            </a:r>
            <a:r>
              <a:rPr lang="en-US" sz="1900" spc="-30" dirty="0"/>
              <a:t> </a:t>
            </a:r>
            <a:r>
              <a:rPr lang="en-US" sz="1900" spc="-15" dirty="0" err="1"/>
              <a:t>evento</a:t>
            </a:r>
            <a:r>
              <a:rPr lang="en-US" sz="1900" spc="-15" dirty="0"/>
              <a:t>,</a:t>
            </a:r>
            <a:r>
              <a:rPr lang="en-US" sz="1900" dirty="0"/>
              <a:t> </a:t>
            </a:r>
            <a:r>
              <a:rPr lang="en-US" sz="1900" spc="5" dirty="0"/>
              <a:t>o </a:t>
            </a:r>
            <a:r>
              <a:rPr lang="en-US" sz="1900" spc="-25" dirty="0" err="1"/>
              <a:t>fatto</a:t>
            </a:r>
            <a:r>
              <a:rPr lang="en-US" sz="1900" spc="-25" dirty="0"/>
              <a:t>,</a:t>
            </a:r>
            <a:r>
              <a:rPr lang="en-US" sz="1900" dirty="0"/>
              <a:t> </a:t>
            </a:r>
            <a:r>
              <a:rPr lang="en-US" sz="1900" spc="-20" dirty="0" err="1"/>
              <a:t>effettuate</a:t>
            </a:r>
            <a:r>
              <a:rPr lang="en-US" sz="1900" spc="-25" dirty="0"/>
              <a:t> </a:t>
            </a:r>
            <a:r>
              <a:rPr lang="en-US" sz="1900" spc="-20" dirty="0" err="1"/>
              <a:t>attraverso</a:t>
            </a:r>
            <a:r>
              <a:rPr lang="en-US" sz="1900" spc="-20" dirty="0"/>
              <a:t> </a:t>
            </a:r>
            <a:r>
              <a:rPr lang="en-US" sz="1900" dirty="0" err="1"/>
              <a:t>simboli</a:t>
            </a:r>
            <a:r>
              <a:rPr lang="en-US" sz="1900" dirty="0"/>
              <a:t> </a:t>
            </a:r>
            <a:r>
              <a:rPr lang="en-US" sz="1900" spc="5" dirty="0"/>
              <a:t>o</a:t>
            </a:r>
            <a:r>
              <a:rPr lang="en-US" sz="1900" spc="25" dirty="0"/>
              <a:t> </a:t>
            </a:r>
            <a:r>
              <a:rPr lang="en-US" sz="1900" dirty="0" err="1"/>
              <a:t>combinazioni</a:t>
            </a:r>
            <a:r>
              <a:rPr lang="en-US" sz="1900" dirty="0"/>
              <a:t> </a:t>
            </a:r>
            <a:r>
              <a:rPr lang="en-US" sz="1900" spc="-505" dirty="0"/>
              <a:t> </a:t>
            </a:r>
            <a:r>
              <a:rPr lang="en-US" sz="1900" spc="-5" dirty="0"/>
              <a:t>di</a:t>
            </a:r>
            <a:r>
              <a:rPr lang="en-US" sz="1900" spc="15" dirty="0"/>
              <a:t> </a:t>
            </a:r>
            <a:r>
              <a:rPr lang="en-US" sz="1900" dirty="0" err="1"/>
              <a:t>simboli</a:t>
            </a:r>
            <a:r>
              <a:rPr lang="en-US" sz="1900" dirty="0"/>
              <a:t>,</a:t>
            </a:r>
            <a:r>
              <a:rPr lang="en-US" sz="1900" spc="15" dirty="0"/>
              <a:t> </a:t>
            </a:r>
            <a:r>
              <a:rPr lang="en-US" sz="1900" spc="5" dirty="0"/>
              <a:t>o</a:t>
            </a:r>
            <a:r>
              <a:rPr lang="en-US" sz="1900" spc="-5" dirty="0"/>
              <a:t> di</a:t>
            </a:r>
            <a:r>
              <a:rPr lang="en-US" sz="1900" spc="20" dirty="0"/>
              <a:t> </a:t>
            </a:r>
            <a:r>
              <a:rPr lang="en-US" sz="1900" spc="-5" dirty="0" err="1"/>
              <a:t>qualsiasi</a:t>
            </a:r>
            <a:r>
              <a:rPr lang="en-US" sz="1900" spc="15" dirty="0"/>
              <a:t> </a:t>
            </a:r>
            <a:r>
              <a:rPr lang="en-US" sz="1900" spc="-10" dirty="0" err="1"/>
              <a:t>altra</a:t>
            </a:r>
            <a:r>
              <a:rPr lang="en-US" sz="1900" spc="-10" dirty="0"/>
              <a:t> </a:t>
            </a:r>
            <a:r>
              <a:rPr lang="en-US" sz="1900" spc="-5" dirty="0"/>
              <a:t>forma </a:t>
            </a:r>
            <a:r>
              <a:rPr lang="en-US" sz="1900" spc="-10" dirty="0" err="1"/>
              <a:t>espressiva</a:t>
            </a:r>
            <a:r>
              <a:rPr lang="en-US" sz="1900" spc="20" dirty="0"/>
              <a:t> </a:t>
            </a:r>
            <a:r>
              <a:rPr lang="en-US" sz="1900" spc="-15" dirty="0"/>
              <a:t>legate</a:t>
            </a:r>
            <a:r>
              <a:rPr lang="en-US" sz="1900" spc="-25" dirty="0"/>
              <a:t> </a:t>
            </a:r>
            <a:r>
              <a:rPr lang="en-US" sz="1900" spc="5" dirty="0"/>
              <a:t>a</a:t>
            </a:r>
            <a:r>
              <a:rPr lang="en-US" sz="1900" spc="-5" dirty="0"/>
              <a:t> </a:t>
            </a:r>
            <a:r>
              <a:rPr lang="en-US" sz="1900" dirty="0"/>
              <a:t>un</a:t>
            </a:r>
            <a:r>
              <a:rPr lang="en-US" sz="1900" spc="25" dirty="0"/>
              <a:t> </a:t>
            </a:r>
            <a:r>
              <a:rPr lang="en-US" sz="1900" spc="-5" dirty="0" err="1"/>
              <a:t>qualsiasi</a:t>
            </a:r>
            <a:r>
              <a:rPr lang="en-US" sz="1900" spc="-5" dirty="0"/>
              <a:t> </a:t>
            </a:r>
            <a:r>
              <a:rPr lang="en-US" sz="1900" dirty="0"/>
              <a:t> </a:t>
            </a:r>
            <a:r>
              <a:rPr lang="en-US" sz="1900" dirty="0" err="1"/>
              <a:t>supporto</a:t>
            </a:r>
            <a:endParaRPr lang="en-US" sz="1900" dirty="0"/>
          </a:p>
          <a:p>
            <a:pPr marL="25654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57175" algn="l"/>
              </a:tabLst>
            </a:pPr>
            <a:r>
              <a:rPr lang="en-US" sz="1900" dirty="0"/>
              <a:t>Dati</a:t>
            </a:r>
            <a:r>
              <a:rPr lang="en-US" sz="1900" spc="-15" dirty="0"/>
              <a:t> </a:t>
            </a:r>
            <a:r>
              <a:rPr lang="en-US" sz="1900" dirty="0" err="1"/>
              <a:t>sono</a:t>
            </a:r>
            <a:r>
              <a:rPr lang="en-US" sz="1900" spc="-10" dirty="0"/>
              <a:t> </a:t>
            </a:r>
            <a:r>
              <a:rPr lang="en-US" sz="1900" spc="-5" dirty="0" err="1"/>
              <a:t>rappresentazioni</a:t>
            </a:r>
            <a:r>
              <a:rPr lang="en-US" sz="1900" spc="-15" dirty="0"/>
              <a:t> </a:t>
            </a:r>
            <a:r>
              <a:rPr lang="en-US" sz="1900" spc="-5" dirty="0"/>
              <a:t>di</a:t>
            </a:r>
            <a:r>
              <a:rPr lang="en-US" sz="1900" spc="5" dirty="0"/>
              <a:t> </a:t>
            </a:r>
            <a:r>
              <a:rPr lang="en-US" sz="1900" spc="-10" dirty="0" err="1"/>
              <a:t>eventi</a:t>
            </a:r>
            <a:r>
              <a:rPr lang="en-US" sz="1900" spc="-15" dirty="0"/>
              <a:t> </a:t>
            </a:r>
            <a:r>
              <a:rPr lang="en-US" sz="1900" spc="5" dirty="0"/>
              <a:t>o</a:t>
            </a:r>
            <a:r>
              <a:rPr lang="en-US" sz="1900" spc="-10" dirty="0"/>
              <a:t> </a:t>
            </a:r>
            <a:r>
              <a:rPr lang="en-US" sz="1900" spc="-20" dirty="0" err="1"/>
              <a:t>fatti</a:t>
            </a:r>
            <a:endParaRPr lang="en-US" sz="1900" dirty="0"/>
          </a:p>
          <a:p>
            <a:pPr marL="294005" indent="-228600">
              <a:lnSpc>
                <a:spcPct val="90000"/>
              </a:lnSpc>
              <a:spcBef>
                <a:spcPts val="565"/>
              </a:spcBef>
              <a:buFont typeface="Arial" panose="020B0604020202020204" pitchFamily="34" charset="0"/>
              <a:buChar char="•"/>
              <a:tabLst>
                <a:tab pos="294640" algn="l"/>
              </a:tabLst>
            </a:pPr>
            <a:r>
              <a:rPr lang="en-US" sz="1900" spc="5" dirty="0"/>
              <a:t>Non</a:t>
            </a:r>
            <a:r>
              <a:rPr lang="en-US" sz="1900" spc="-5" dirty="0"/>
              <a:t> </a:t>
            </a:r>
            <a:r>
              <a:rPr lang="en-US" sz="1900" spc="-15" dirty="0"/>
              <a:t>interpretate</a:t>
            </a:r>
            <a:r>
              <a:rPr lang="en-US" sz="1900" spc="-35" dirty="0"/>
              <a:t> </a:t>
            </a:r>
            <a:r>
              <a:rPr lang="en-US" sz="1900" dirty="0"/>
              <a:t>(</a:t>
            </a:r>
            <a:r>
              <a:rPr lang="en-US" sz="1900" dirty="0" err="1"/>
              <a:t>originarie</a:t>
            </a:r>
            <a:r>
              <a:rPr lang="en-US" sz="1900" dirty="0"/>
              <a:t>)</a:t>
            </a:r>
          </a:p>
          <a:p>
            <a:pPr marL="294005" indent="-228600">
              <a:lnSpc>
                <a:spcPct val="90000"/>
              </a:lnSpc>
              <a:spcBef>
                <a:spcPts val="560"/>
              </a:spcBef>
              <a:buFont typeface="Arial" panose="020B0604020202020204" pitchFamily="34" charset="0"/>
              <a:buChar char="•"/>
              <a:tabLst>
                <a:tab pos="294640" algn="l"/>
              </a:tabLst>
            </a:pPr>
            <a:r>
              <a:rPr lang="en-US" sz="1900" spc="-25" dirty="0" err="1"/>
              <a:t>Attraverso</a:t>
            </a:r>
            <a:r>
              <a:rPr lang="en-US" sz="1900" spc="-10" dirty="0"/>
              <a:t> </a:t>
            </a:r>
            <a:r>
              <a:rPr lang="en-US" sz="1900" dirty="0" err="1"/>
              <a:t>simboli</a:t>
            </a:r>
            <a:r>
              <a:rPr lang="en-US" sz="1900" spc="-10" dirty="0"/>
              <a:t> </a:t>
            </a:r>
            <a:r>
              <a:rPr lang="en-US" sz="1900" spc="10" dirty="0"/>
              <a:t>(o</a:t>
            </a:r>
            <a:r>
              <a:rPr lang="en-US" sz="1900" spc="-5" dirty="0"/>
              <a:t> </a:t>
            </a:r>
            <a:r>
              <a:rPr lang="en-US" sz="1900" dirty="0" err="1"/>
              <a:t>combinazioni</a:t>
            </a:r>
            <a:r>
              <a:rPr lang="en-US" sz="1900" spc="-15" dirty="0"/>
              <a:t> </a:t>
            </a:r>
            <a:r>
              <a:rPr lang="en-US" sz="1900" spc="-5" dirty="0"/>
              <a:t>di</a:t>
            </a:r>
            <a:r>
              <a:rPr lang="en-US" sz="1900" spc="10" dirty="0"/>
              <a:t> </a:t>
            </a:r>
            <a:r>
              <a:rPr lang="en-US" sz="1900" dirty="0" err="1"/>
              <a:t>simboli</a:t>
            </a:r>
            <a:r>
              <a:rPr lang="en-US" sz="1900" dirty="0"/>
              <a:t>)</a:t>
            </a:r>
          </a:p>
          <a:p>
            <a:pPr marL="12700" indent="-22860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lang="en-US" sz="1900" spc="5" dirty="0"/>
              <a:t> </a:t>
            </a:r>
            <a:r>
              <a:rPr lang="en-US" sz="1900" spc="-5" dirty="0" err="1"/>
              <a:t>Contenute</a:t>
            </a:r>
            <a:r>
              <a:rPr lang="en-US" sz="1900" spc="-35" dirty="0"/>
              <a:t> </a:t>
            </a:r>
            <a:r>
              <a:rPr lang="en-US" sz="1900" dirty="0" err="1"/>
              <a:t>su</a:t>
            </a:r>
            <a:r>
              <a:rPr lang="en-US" sz="1900" spc="-5" dirty="0"/>
              <a:t> </a:t>
            </a:r>
            <a:r>
              <a:rPr lang="en-US" sz="1900" dirty="0" err="1"/>
              <a:t>supporti</a:t>
            </a:r>
            <a:r>
              <a:rPr lang="en-US" sz="1900" dirty="0"/>
              <a:t> (forma</a:t>
            </a:r>
            <a:r>
              <a:rPr lang="en-US" sz="1900" spc="-40" dirty="0"/>
              <a:t> </a:t>
            </a:r>
            <a:r>
              <a:rPr lang="en-US" sz="1900" spc="-5" dirty="0" err="1"/>
              <a:t>espressiva</a:t>
            </a:r>
            <a:r>
              <a:rPr lang="en-US" sz="1900" spc="-5" dirty="0"/>
              <a:t>)</a:t>
            </a:r>
            <a:endParaRPr lang="en-US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E8A44-EA38-BAA9-CF26-B2234096B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94" r="39467"/>
          <a:stretch/>
        </p:blipFill>
        <p:spPr>
          <a:xfrm>
            <a:off x="6705600" y="1"/>
            <a:ext cx="3358430" cy="777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F3F4A86-967B-5CAB-5C8A-438DEC256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" y="1143000"/>
            <a:ext cx="9974012" cy="522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5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93655CF-7B60-6645-E626-BFD00AAD3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13" y="167280"/>
            <a:ext cx="6934374" cy="459049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2023B960-8B10-CC53-C22D-709FDB6E1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4876800"/>
            <a:ext cx="5410200" cy="258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5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160770" cy="77724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0002" cy="77724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7190" y="1122680"/>
            <a:ext cx="9304020" cy="552704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2975" y="1899920"/>
            <a:ext cx="3143250" cy="39725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900" kern="1200" spc="-15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Definizione</a:t>
            </a:r>
            <a:r>
              <a:rPr lang="en-US" sz="3900" kern="1200" spc="-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9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</a:t>
            </a:r>
            <a:r>
              <a:rPr lang="en-US" sz="39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900" kern="1200" spc="-15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informazione</a:t>
            </a:r>
            <a:endParaRPr lang="en-US" sz="3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823" y="1899920"/>
            <a:ext cx="4652007" cy="3972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marR="5080" indent="-228600">
              <a:lnSpc>
                <a:spcPct val="90000"/>
              </a:lnSpc>
              <a:spcBef>
                <a:spcPts val="415"/>
              </a:spcBef>
              <a:buFont typeface="Arial" panose="020B0604020202020204" pitchFamily="34" charset="0"/>
              <a:buChar char="•"/>
            </a:pPr>
            <a:r>
              <a:rPr lang="en-US" sz="2300" spc="-15" dirty="0" err="1">
                <a:solidFill>
                  <a:schemeClr val="tx1">
                    <a:alpha val="55000"/>
                  </a:schemeClr>
                </a:solidFill>
              </a:rPr>
              <a:t>L’informazione</a:t>
            </a:r>
            <a:r>
              <a:rPr lang="en-US" sz="2300" spc="-1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deriva</a:t>
            </a:r>
            <a:r>
              <a:rPr lang="en-US" sz="2300" spc="-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da un </a:t>
            </a:r>
            <a:r>
              <a:rPr lang="en-US" sz="2300" spc="-15" dirty="0" err="1">
                <a:solidFill>
                  <a:schemeClr val="tx1">
                    <a:alpha val="55000"/>
                  </a:schemeClr>
                </a:solidFill>
              </a:rPr>
              <a:t>dato</a:t>
            </a:r>
            <a:r>
              <a:rPr lang="en-US" sz="2300" spc="-15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o </a:t>
            </a:r>
            <a:r>
              <a:rPr lang="en-US" sz="2300" dirty="0" err="1">
                <a:solidFill>
                  <a:schemeClr val="tx1">
                    <a:alpha val="55000"/>
                  </a:schemeClr>
                </a:solidFill>
              </a:rPr>
              <a:t>più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verosimilmente</a:t>
            </a:r>
            <a:r>
              <a:rPr lang="en-US" sz="2300" spc="-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da </a:t>
            </a:r>
            <a:r>
              <a:rPr lang="en-US" sz="2300" spc="10" dirty="0">
                <a:solidFill>
                  <a:schemeClr val="tx1">
                    <a:alpha val="55000"/>
                  </a:schemeClr>
                </a:solidFill>
              </a:rPr>
              <a:t>un </a:t>
            </a:r>
            <a:r>
              <a:rPr lang="en-US" sz="2300" spc="5" dirty="0" err="1">
                <a:solidFill>
                  <a:schemeClr val="tx1">
                    <a:alpha val="55000"/>
                  </a:schemeClr>
                </a:solidFill>
              </a:rPr>
              <a:t>insieme</a:t>
            </a: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1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5" dirty="0">
                <a:solidFill>
                  <a:schemeClr val="tx1">
                    <a:alpha val="55000"/>
                  </a:schemeClr>
                </a:solidFill>
              </a:rPr>
              <a:t>di</a:t>
            </a:r>
            <a:r>
              <a:rPr lang="en-US" sz="2300" spc="1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10" dirty="0" err="1">
                <a:solidFill>
                  <a:schemeClr val="tx1">
                    <a:alpha val="55000"/>
                  </a:schemeClr>
                </a:solidFill>
              </a:rPr>
              <a:t>dati</a:t>
            </a:r>
            <a:r>
              <a:rPr lang="en-US" sz="2300" spc="-10" dirty="0">
                <a:solidFill>
                  <a:schemeClr val="tx1">
                    <a:alpha val="55000"/>
                  </a:schemeClr>
                </a:solidFill>
              </a:rPr>
              <a:t>,</a:t>
            </a:r>
            <a:r>
              <a:rPr lang="en-US" sz="2300" spc="2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5" dirty="0" err="1">
                <a:solidFill>
                  <a:schemeClr val="tx1">
                    <a:alpha val="55000"/>
                  </a:schemeClr>
                </a:solidFill>
              </a:rPr>
              <a:t>che</a:t>
            </a: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 err="1">
                <a:solidFill>
                  <a:schemeClr val="tx1">
                    <a:alpha val="55000"/>
                  </a:schemeClr>
                </a:solidFill>
              </a:rPr>
              <a:t>sono</a:t>
            </a:r>
            <a:r>
              <a:rPr lang="en-US" sz="2300" spc="2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20" dirty="0" err="1">
                <a:solidFill>
                  <a:schemeClr val="tx1">
                    <a:alpha val="55000"/>
                  </a:schemeClr>
                </a:solidFill>
              </a:rPr>
              <a:t>stati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sottoposti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a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10" dirty="0">
                <a:solidFill>
                  <a:schemeClr val="tx1">
                    <a:alpha val="55000"/>
                  </a:schemeClr>
                </a:solidFill>
              </a:rPr>
              <a:t>un </a:t>
            </a: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processo</a:t>
            </a: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10" dirty="0">
                <a:solidFill>
                  <a:schemeClr val="tx1">
                    <a:alpha val="55000"/>
                  </a:schemeClr>
                </a:solidFill>
              </a:rPr>
              <a:t>di</a:t>
            </a:r>
            <a:r>
              <a:rPr lang="en-US" sz="2300" spc="1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10" dirty="0" err="1">
                <a:solidFill>
                  <a:schemeClr val="tx1">
                    <a:alpha val="55000"/>
                  </a:schemeClr>
                </a:solidFill>
              </a:rPr>
              <a:t>interpretazione</a:t>
            </a:r>
            <a:r>
              <a:rPr lang="en-US" sz="2300" spc="-2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5" dirty="0" err="1">
                <a:solidFill>
                  <a:schemeClr val="tx1">
                    <a:alpha val="55000"/>
                  </a:schemeClr>
                </a:solidFill>
              </a:rPr>
              <a:t>che</a:t>
            </a: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li </a:t>
            </a:r>
            <a:r>
              <a:rPr lang="en-US" sz="2300" spc="-50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ha</a:t>
            </a:r>
            <a:r>
              <a:rPr lang="en-US" sz="2300" spc="1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10" dirty="0" err="1">
                <a:solidFill>
                  <a:schemeClr val="tx1">
                    <a:alpha val="55000"/>
                  </a:schemeClr>
                </a:solidFill>
              </a:rPr>
              <a:t>resi</a:t>
            </a:r>
            <a:r>
              <a:rPr lang="en-US" sz="2300" spc="-1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significativi</a:t>
            </a:r>
            <a:r>
              <a:rPr lang="en-US" sz="2300" spc="-1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per</a:t>
            </a:r>
            <a:r>
              <a:rPr lang="en-US" sz="2300" spc="-1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il</a:t>
            </a:r>
            <a:r>
              <a:rPr lang="en-US" sz="2300" spc="1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destinatario</a:t>
            </a:r>
            <a:endParaRPr lang="en-US" sz="2300" dirty="0">
              <a:solidFill>
                <a:schemeClr val="tx1">
                  <a:alpha val="55000"/>
                </a:schemeClr>
              </a:solidFill>
            </a:endParaRPr>
          </a:p>
          <a:p>
            <a:pPr marL="256540" indent="-228600">
              <a:lnSpc>
                <a:spcPct val="90000"/>
              </a:lnSpc>
              <a:spcBef>
                <a:spcPts val="515"/>
              </a:spcBef>
              <a:buFont typeface="Arial" panose="020B0604020202020204" pitchFamily="34" charset="0"/>
              <a:buChar char="•"/>
              <a:tabLst>
                <a:tab pos="257175" algn="l"/>
              </a:tabLst>
            </a:pP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L'informazione</a:t>
            </a:r>
            <a:r>
              <a:rPr lang="en-US" sz="2300" spc="-5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è:</a:t>
            </a:r>
            <a:endParaRPr lang="en-US" sz="2300" dirty="0">
              <a:solidFill>
                <a:schemeClr val="tx1">
                  <a:alpha val="55000"/>
                </a:schemeClr>
              </a:solidFill>
            </a:endParaRPr>
          </a:p>
          <a:p>
            <a:pPr marL="79375" indent="-228600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</a:pP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–</a:t>
            </a:r>
            <a:r>
              <a:rPr lang="en-US" sz="2300" spc="-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 err="1">
                <a:solidFill>
                  <a:schemeClr val="tx1">
                    <a:alpha val="55000"/>
                  </a:schemeClr>
                </a:solidFill>
              </a:rPr>
              <a:t>insieme</a:t>
            </a:r>
            <a:r>
              <a:rPr lang="en-US" sz="2300" spc="-2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5" dirty="0">
                <a:solidFill>
                  <a:schemeClr val="tx1">
                    <a:alpha val="55000"/>
                  </a:schemeClr>
                </a:solidFill>
              </a:rPr>
              <a:t>di </a:t>
            </a:r>
            <a:r>
              <a:rPr lang="en-US" sz="2300" spc="-10" dirty="0" err="1">
                <a:solidFill>
                  <a:schemeClr val="tx1">
                    <a:alpha val="55000"/>
                  </a:schemeClr>
                </a:solidFill>
              </a:rPr>
              <a:t>dati</a:t>
            </a:r>
            <a:endParaRPr lang="en-US" sz="2300" dirty="0">
              <a:solidFill>
                <a:schemeClr val="tx1">
                  <a:alpha val="55000"/>
                </a:schemeClr>
              </a:solidFill>
            </a:endParaRPr>
          </a:p>
          <a:p>
            <a:pPr marL="227329" indent="-228600">
              <a:lnSpc>
                <a:spcPct val="90000"/>
              </a:lnSpc>
              <a:spcBef>
                <a:spcPts val="565"/>
              </a:spcBef>
              <a:buFont typeface="Arial" panose="020B0604020202020204" pitchFamily="34" charset="0"/>
              <a:buChar char="•"/>
              <a:tabLst>
                <a:tab pos="227965" algn="l"/>
              </a:tabLst>
            </a:pPr>
            <a:r>
              <a:rPr lang="en-US" sz="2300" spc="-15" dirty="0" err="1">
                <a:solidFill>
                  <a:schemeClr val="tx1">
                    <a:alpha val="55000"/>
                  </a:schemeClr>
                </a:solidFill>
              </a:rPr>
              <a:t>interpretati</a:t>
            </a:r>
            <a:endParaRPr lang="en-US" sz="2300" dirty="0">
              <a:solidFill>
                <a:schemeClr val="tx1">
                  <a:alpha val="55000"/>
                </a:schemeClr>
              </a:solidFill>
            </a:endParaRPr>
          </a:p>
          <a:p>
            <a:pPr marL="227329" indent="-228600">
              <a:lnSpc>
                <a:spcPct val="90000"/>
              </a:lnSpc>
              <a:spcBef>
                <a:spcPts val="555"/>
              </a:spcBef>
              <a:buFont typeface="Arial" panose="020B0604020202020204" pitchFamily="34" charset="0"/>
              <a:buChar char="•"/>
              <a:tabLst>
                <a:tab pos="227965" algn="l"/>
              </a:tabLst>
            </a:pP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comprensibili</a:t>
            </a:r>
            <a:r>
              <a:rPr lang="en-US" sz="2300" spc="-2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per</a:t>
            </a:r>
            <a:r>
              <a:rPr lang="en-US" sz="2300" spc="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dirty="0">
                <a:solidFill>
                  <a:schemeClr val="tx1">
                    <a:alpha val="55000"/>
                  </a:schemeClr>
                </a:solidFill>
              </a:rPr>
              <a:t>il</a:t>
            </a:r>
            <a:r>
              <a:rPr lang="en-US" sz="2300" spc="-15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300" spc="-5" dirty="0" err="1">
                <a:solidFill>
                  <a:schemeClr val="tx1">
                    <a:alpha val="55000"/>
                  </a:schemeClr>
                </a:solidFill>
              </a:rPr>
              <a:t>destinatario</a:t>
            </a:r>
            <a:endParaRPr lang="en-US" sz="2300" dirty="0">
              <a:solidFill>
                <a:schemeClr val="tx1">
                  <a:alpha val="5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DC0549E-08BF-1D37-78CE-30D6B4E58D83}"/>
              </a:ext>
            </a:extLst>
          </p:cNvPr>
          <p:cNvSpPr txBox="1"/>
          <p:nvPr/>
        </p:nvSpPr>
        <p:spPr>
          <a:xfrm>
            <a:off x="1524000" y="798787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/>
              <a:t>DATI: DIAMANTI GREZZI</a:t>
            </a:r>
            <a:endParaRPr lang="it-IT" sz="48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FB86537-E3B9-22C0-9EC8-F585538EF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81" y="1752600"/>
            <a:ext cx="9154237" cy="460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atate sporche immagine stock. Immagine di maturo, nutrizione - 44037231">
            <a:extLst>
              <a:ext uri="{FF2B5EF4-FFF2-40B4-BE49-F238E27FC236}">
                <a16:creationId xmlns:a16="http://schemas.microsoft.com/office/drawing/2014/main" id="{B7CA8E32-50F7-2EF6-6954-603FFFBEBB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3" t="20382" r="14483" b="21049"/>
          <a:stretch/>
        </p:blipFill>
        <p:spPr bwMode="auto">
          <a:xfrm>
            <a:off x="266672" y="3080482"/>
            <a:ext cx="513582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atate al forno: la ricetta dello chef per un risultato asciutto e croccante">
            <a:extLst>
              <a:ext uri="{FF2B5EF4-FFF2-40B4-BE49-F238E27FC236}">
                <a16:creationId xmlns:a16="http://schemas.microsoft.com/office/drawing/2014/main" id="{CF62103D-0CC9-E4FF-3783-FB005649A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492" y="3110963"/>
            <a:ext cx="4482059" cy="297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40;p19">
            <a:extLst>
              <a:ext uri="{FF2B5EF4-FFF2-40B4-BE49-F238E27FC236}">
                <a16:creationId xmlns:a16="http://schemas.microsoft.com/office/drawing/2014/main" id="{9BAE13AA-7842-B2F8-1458-BBFC77361B0F}"/>
              </a:ext>
            </a:extLst>
          </p:cNvPr>
          <p:cNvSpPr txBox="1">
            <a:spLocks/>
          </p:cNvSpPr>
          <p:nvPr/>
        </p:nvSpPr>
        <p:spPr>
          <a:xfrm>
            <a:off x="685800" y="2057400"/>
            <a:ext cx="35936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3000" b="1" dirty="0">
                <a:latin typeface="Rajdhani"/>
                <a:cs typeface="Rajdhani"/>
                <a:sym typeface="Rajdhani"/>
              </a:rPr>
              <a:t>DATI</a:t>
            </a:r>
          </a:p>
        </p:txBody>
      </p:sp>
      <p:sp>
        <p:nvSpPr>
          <p:cNvPr id="5" name="Google Shape;140;p19">
            <a:extLst>
              <a:ext uri="{FF2B5EF4-FFF2-40B4-BE49-F238E27FC236}">
                <a16:creationId xmlns:a16="http://schemas.microsoft.com/office/drawing/2014/main" id="{C76CF4F9-F36F-BEF6-3C76-4F2EA21ECCE4}"/>
              </a:ext>
            </a:extLst>
          </p:cNvPr>
          <p:cNvSpPr txBox="1">
            <a:spLocks/>
          </p:cNvSpPr>
          <p:nvPr/>
        </p:nvSpPr>
        <p:spPr>
          <a:xfrm>
            <a:off x="6096000" y="2057400"/>
            <a:ext cx="359369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it-IT" dirty="0">
                <a:solidFill>
                  <a:schemeClr val="tx1"/>
                </a:solidFill>
              </a:rPr>
              <a:t>INFORMAZIONI</a:t>
            </a:r>
          </a:p>
        </p:txBody>
      </p:sp>
    </p:spTree>
    <p:extLst>
      <p:ext uri="{BB962C8B-B14F-4D97-AF65-F5344CB8AC3E}">
        <p14:creationId xmlns:p14="http://schemas.microsoft.com/office/powerpoint/2010/main" val="2621278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cerchio, diagramma&#10;&#10;Descrizione generata automaticamente">
            <a:extLst>
              <a:ext uri="{FF2B5EF4-FFF2-40B4-BE49-F238E27FC236}">
                <a16:creationId xmlns:a16="http://schemas.microsoft.com/office/drawing/2014/main" id="{BB843AA8-DA22-11ED-1DEE-6B3E3DC42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8" y="0"/>
            <a:ext cx="9982384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1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design&#10;&#10;Descrizione generata automaticamente">
            <a:extLst>
              <a:ext uri="{FF2B5EF4-FFF2-40B4-BE49-F238E27FC236}">
                <a16:creationId xmlns:a16="http://schemas.microsoft.com/office/drawing/2014/main" id="{5BB9BBA3-F56C-7CCA-4E13-5E2369A53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10"/>
          <a:stretch/>
        </p:blipFill>
        <p:spPr>
          <a:xfrm>
            <a:off x="895648" y="-76200"/>
            <a:ext cx="8267104" cy="4267200"/>
          </a:xfrm>
          <a:prstGeom prst="rect">
            <a:avLst/>
          </a:prstGeom>
        </p:spPr>
      </p:pic>
      <p:pic>
        <p:nvPicPr>
          <p:cNvPr id="3" name="Immagine 2" descr="Immagine che contiene testo, schermata, grafica, aqua&#10;&#10;Descrizione generata automaticamente">
            <a:extLst>
              <a:ext uri="{FF2B5EF4-FFF2-40B4-BE49-F238E27FC236}">
                <a16:creationId xmlns:a16="http://schemas.microsoft.com/office/drawing/2014/main" id="{16A9A72B-CE6D-D1C0-A5C0-CCD9D54F4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419600"/>
            <a:ext cx="4767262" cy="318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34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biglietto da visita, schermata, Carattere&#10;&#10;Descrizione generata automaticamente">
            <a:extLst>
              <a:ext uri="{FF2B5EF4-FFF2-40B4-BE49-F238E27FC236}">
                <a16:creationId xmlns:a16="http://schemas.microsoft.com/office/drawing/2014/main" id="{D15A9A40-C389-D12C-C3D5-1D906A1CD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 b="7843"/>
          <a:stretch/>
        </p:blipFill>
        <p:spPr>
          <a:xfrm>
            <a:off x="52403" y="342900"/>
            <a:ext cx="10005997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7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Carattere, schermata, logo&#10;&#10;Descrizione generata automaticamente">
            <a:extLst>
              <a:ext uri="{FF2B5EF4-FFF2-40B4-BE49-F238E27FC236}">
                <a16:creationId xmlns:a16="http://schemas.microsoft.com/office/drawing/2014/main" id="{AE971148-5479-710A-774C-FB207CEA4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" y="1447800"/>
            <a:ext cx="9782175" cy="393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28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7B10D5C-35FF-41E2-C5CF-D3BF18E97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2000"/>
            <a:ext cx="8974167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5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grafica, illustrazione, arte&#10;&#10;Il contenuto generato dall'IA potrebbe non essere corretto.">
            <a:extLst>
              <a:ext uri="{FF2B5EF4-FFF2-40B4-BE49-F238E27FC236}">
                <a16:creationId xmlns:a16="http://schemas.microsoft.com/office/drawing/2014/main" id="{C7CB33C1-0013-08B9-89FA-70B1CEB9B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685800"/>
            <a:ext cx="9639300" cy="600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66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Carattere, calligrafia, schermata&#10;&#10;Descrizione generata automaticamente">
            <a:extLst>
              <a:ext uri="{FF2B5EF4-FFF2-40B4-BE49-F238E27FC236}">
                <a16:creationId xmlns:a16="http://schemas.microsoft.com/office/drawing/2014/main" id="{D00B2DCA-9539-50E1-FB95-B8032D72A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0" y="0"/>
            <a:ext cx="621792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63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1;p19">
            <a:extLst>
              <a:ext uri="{FF2B5EF4-FFF2-40B4-BE49-F238E27FC236}">
                <a16:creationId xmlns:a16="http://schemas.microsoft.com/office/drawing/2014/main" id="{71D00D4E-3B09-CBCA-91B3-7BFCE9C8F2B0}"/>
              </a:ext>
            </a:extLst>
          </p:cNvPr>
          <p:cNvSpPr txBox="1"/>
          <p:nvPr/>
        </p:nvSpPr>
        <p:spPr>
          <a:xfrm>
            <a:off x="1222786" y="4114800"/>
            <a:ext cx="7331440" cy="128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it-IT" sz="2000" b="1" dirty="0">
                <a:latin typeface="Rajdhani"/>
                <a:cs typeface="Rajdhani"/>
              </a:rPr>
              <a:t>L'obiettivo principale dell'AI è quello di creare macchine in grado di imitare e superare le capacità cognitive umane in diversi ambiti</a:t>
            </a:r>
            <a:endParaRPr lang="it-IT" sz="2000" b="1" dirty="0">
              <a:latin typeface="Rajdhani"/>
              <a:cs typeface="Rajdhani"/>
              <a:sym typeface="Rajdhani"/>
            </a:endParaRPr>
          </a:p>
        </p:txBody>
      </p:sp>
      <p:sp>
        <p:nvSpPr>
          <p:cNvPr id="3" name="Google Shape;141;p19">
            <a:extLst>
              <a:ext uri="{FF2B5EF4-FFF2-40B4-BE49-F238E27FC236}">
                <a16:creationId xmlns:a16="http://schemas.microsoft.com/office/drawing/2014/main" id="{2E68D1B3-DF77-DFF3-0C39-1DE48B764442}"/>
              </a:ext>
            </a:extLst>
          </p:cNvPr>
          <p:cNvSpPr txBox="1"/>
          <p:nvPr/>
        </p:nvSpPr>
        <p:spPr>
          <a:xfrm>
            <a:off x="1219200" y="1285413"/>
            <a:ext cx="7335026" cy="263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it-IT" sz="2000" b="1" dirty="0">
                <a:latin typeface="Rajdhani"/>
                <a:cs typeface="Rajdhani"/>
              </a:rPr>
              <a:t>AI: campo della scienza informatica che si occupa dello sviluppo di sistemi e algoritmi in grado di imitare l'intelligenza umana, consentendo alle macchine di apprendere, ragionare, risolvere problemi e prendere decisioni in modo autonomo</a:t>
            </a:r>
            <a:endParaRPr lang="it-IT" sz="2000" b="1" dirty="0">
              <a:latin typeface="Rajdhani"/>
              <a:cs typeface="Rajdhani"/>
              <a:sym typeface="Rajdhan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32EAB69-7A73-2F7A-41AF-156D5FBA5211}"/>
              </a:ext>
            </a:extLst>
          </p:cNvPr>
          <p:cNvSpPr txBox="1"/>
          <p:nvPr/>
        </p:nvSpPr>
        <p:spPr>
          <a:xfrm>
            <a:off x="1219200" y="9144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DEFINIZIONE INTELLIGENZA ARTIFICIALE</a:t>
            </a:r>
          </a:p>
        </p:txBody>
      </p:sp>
    </p:spTree>
    <p:extLst>
      <p:ext uri="{BB962C8B-B14F-4D97-AF65-F5344CB8AC3E}">
        <p14:creationId xmlns:p14="http://schemas.microsoft.com/office/powerpoint/2010/main" val="161909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0536" y="1524000"/>
            <a:ext cx="7577327" cy="43814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6B72755-293F-4994-4F73-7663FA412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074" y="152400"/>
            <a:ext cx="7082251" cy="72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76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258" y="838200"/>
            <a:ext cx="5929883" cy="57576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r="50877"/>
          <a:stretch/>
        </p:blipFill>
        <p:spPr>
          <a:xfrm>
            <a:off x="381000" y="495300"/>
            <a:ext cx="4267200" cy="6324600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35A54B5F-280A-12FE-659D-FFCB0D3BFEB0}"/>
              </a:ext>
            </a:extLst>
          </p:cNvPr>
          <p:cNvPicPr/>
          <p:nvPr/>
        </p:nvPicPr>
        <p:blipFill rotWithShape="1">
          <a:blip r:embed="rId2" cstate="print"/>
          <a:srcRect l="56140"/>
          <a:stretch/>
        </p:blipFill>
        <p:spPr>
          <a:xfrm>
            <a:off x="5444838" y="533400"/>
            <a:ext cx="3810000" cy="632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227" y="1295400"/>
            <a:ext cx="9489946" cy="49027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56" y="347189"/>
            <a:ext cx="9920288" cy="70780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088" y="1790700"/>
            <a:ext cx="3101340" cy="424603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/>
          <a:p>
            <a:pPr marL="13970" algn="ctr" rtl="0">
              <a:spcBef>
                <a:spcPts val="143"/>
              </a:spcBef>
            </a:pPr>
            <a:r>
              <a:rPr lang="it-IT" sz="2640" b="1" spc="-44" dirty="0">
                <a:latin typeface="Tahoma"/>
                <a:cs typeface="Tahoma"/>
              </a:rPr>
              <a:t>SUPERVISIONATO</a:t>
            </a:r>
            <a:endParaRPr sz="2640" b="1" spc="-44" dirty="0">
              <a:latin typeface="Tahoma"/>
              <a:cs typeface="Tahoma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96EBBE7-1B23-F59A-1499-0D705DF182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08" r="6190"/>
          <a:stretch/>
        </p:blipFill>
        <p:spPr>
          <a:xfrm>
            <a:off x="3604260" y="4509115"/>
            <a:ext cx="6202680" cy="323620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3DB724D-593E-A2BA-4170-C668C8284B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826"/>
          <a:stretch/>
        </p:blipFill>
        <p:spPr>
          <a:xfrm>
            <a:off x="3331796" y="640681"/>
            <a:ext cx="6726605" cy="3245519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806E3B35-E729-DCB0-3CD7-44ACFF935816}"/>
              </a:ext>
            </a:extLst>
          </p:cNvPr>
          <p:cNvSpPr txBox="1">
            <a:spLocks/>
          </p:cNvSpPr>
          <p:nvPr/>
        </p:nvSpPr>
        <p:spPr>
          <a:xfrm>
            <a:off x="502920" y="5814060"/>
            <a:ext cx="3101340" cy="843693"/>
          </a:xfrm>
          <a:prstGeom prst="rect">
            <a:avLst/>
          </a:prstGeom>
        </p:spPr>
        <p:txBody>
          <a:bodyPr vert="horz" wrap="square" lIns="0" tIns="18161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3970" algn="ctr">
              <a:spcBef>
                <a:spcPts val="143"/>
              </a:spcBef>
            </a:pPr>
            <a:r>
              <a:rPr lang="it-IT" sz="2640" b="1" kern="0" spc="-44" dirty="0">
                <a:latin typeface="Tahoma"/>
                <a:cs typeface="Tahoma"/>
              </a:rPr>
              <a:t>NON </a:t>
            </a:r>
          </a:p>
          <a:p>
            <a:pPr marL="13970" algn="ctr">
              <a:spcBef>
                <a:spcPts val="143"/>
              </a:spcBef>
            </a:pPr>
            <a:r>
              <a:rPr lang="it-IT" sz="2640" b="1" kern="0" spc="-44" dirty="0">
                <a:latin typeface="Tahoma"/>
                <a:cs typeface="Tahoma"/>
              </a:rPr>
              <a:t>SUPERVISIONATO</a:t>
            </a:r>
            <a:endParaRPr lang="it-IT" sz="2640" kern="0" dirty="0">
              <a:latin typeface="Tahoma"/>
              <a:cs typeface="Tahoma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973D0B2-79B6-CFFE-F629-0BF20A8606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174"/>
          <a:stretch/>
        </p:blipFill>
        <p:spPr>
          <a:xfrm>
            <a:off x="3366428" y="30451"/>
            <a:ext cx="6726605" cy="610230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2DE084C-C2E4-3818-A745-D0CCE1129697}"/>
              </a:ext>
            </a:extLst>
          </p:cNvPr>
          <p:cNvCxnSpPr/>
          <p:nvPr/>
        </p:nvCxnSpPr>
        <p:spPr>
          <a:xfrm>
            <a:off x="265088" y="4191000"/>
            <a:ext cx="95418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32C378A-6E5E-BBAE-C510-0FF454BE9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" y="533400"/>
            <a:ext cx="10058400" cy="578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11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F7AA3BA-2F56-471F-9A81-0B7C7AE2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87" y="0"/>
            <a:ext cx="7252826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10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3629547-EE01-4C0A-ED8A-18105E0B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78" y="78889"/>
            <a:ext cx="8173644" cy="382286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7918231-8DF8-D2F4-DC5D-42BAC459F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20" y="4038600"/>
            <a:ext cx="8668960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37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A1A637F-DDB9-4489-762A-20C6C35F1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67" y="228600"/>
            <a:ext cx="8526065" cy="4382112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EB3C397-F4D6-88E0-7272-013081BED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876800"/>
            <a:ext cx="596265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715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5F1A668-0C45-A3CA-F27F-BA3B1E826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65" y="762000"/>
            <a:ext cx="9477669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68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B80EC-3DE3-67D9-FD0A-357FB6AA6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4" y="521327"/>
            <a:ext cx="9564031" cy="672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98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C7F4C375-C5C6-D362-1BC0-B9E5AEB86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1" y="533400"/>
            <a:ext cx="9828098" cy="65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49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6FCA9752-E5F3-13D3-00D4-EDFF2C7C3327}"/>
              </a:ext>
            </a:extLst>
          </p:cNvPr>
          <p:cNvSpPr txBox="1"/>
          <p:nvPr/>
        </p:nvSpPr>
        <p:spPr>
          <a:xfrm>
            <a:off x="762000" y="914400"/>
            <a:ext cx="8534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modello </a:t>
            </a:r>
            <a:r>
              <a:rPr lang="it-IT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 machine learning è un'astrazione dei dati e dei pattern presenti in essi. </a:t>
            </a:r>
          </a:p>
          <a:p>
            <a:pPr algn="just"/>
            <a:endParaRPr lang="it-IT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it-IT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Funziona come una rappresentazione matematica o statistica delle relazioni intrinseche nei dati, consentendo al sistema di generalizzare i nuovi dati non ancora visti durante il processo di addestramento.</a:t>
            </a:r>
          </a:p>
          <a:p>
            <a:pPr algn="just"/>
            <a:endParaRPr lang="it-IT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it-IT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Questa astrazione permette al modello di apprendere dai dati e di adattarsi a diverse situazioni, rendendolo flessibile ed efficiente nell'affrontare problemi complessi </a:t>
            </a:r>
          </a:p>
        </p:txBody>
      </p:sp>
    </p:spTree>
    <p:extLst>
      <p:ext uri="{BB962C8B-B14F-4D97-AF65-F5344CB8AC3E}">
        <p14:creationId xmlns:p14="http://schemas.microsoft.com/office/powerpoint/2010/main" val="4051255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410D481-9D86-2870-48B7-CA9E7FDD8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89" y="713932"/>
            <a:ext cx="8221222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63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24771"/>
            <a:ext cx="10058400" cy="3147627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5BAA65-6911-8D20-E916-7E8FCB453CE4}"/>
              </a:ext>
            </a:extLst>
          </p:cNvPr>
          <p:cNvSpPr txBox="1"/>
          <p:nvPr/>
        </p:nvSpPr>
        <p:spPr>
          <a:xfrm>
            <a:off x="762000" y="6400800"/>
            <a:ext cx="7987553" cy="8385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NON è DETERMINITSTICO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COME GLI ESSERI UMANI</a:t>
            </a:r>
          </a:p>
        </p:txBody>
      </p:sp>
      <p:pic>
        <p:nvPicPr>
          <p:cNvPr id="2" name="object 2"/>
          <p:cNvPicPr/>
          <p:nvPr/>
        </p:nvPicPr>
        <p:blipFill rotWithShape="1">
          <a:blip r:embed="rId2" cstate="print"/>
          <a:srcRect t="1" r="315" b="-4"/>
          <a:stretch/>
        </p:blipFill>
        <p:spPr>
          <a:xfrm>
            <a:off x="0" y="233150"/>
            <a:ext cx="10058400" cy="6017929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" y="1450848"/>
            <a:ext cx="9029700" cy="487222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888" y="1668780"/>
            <a:ext cx="8955405" cy="4006850"/>
            <a:chOff x="246888" y="1668780"/>
            <a:chExt cx="8955405" cy="4006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888" y="1668780"/>
              <a:ext cx="4372355" cy="40065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9243" y="2272283"/>
              <a:ext cx="4582667" cy="27980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9945EB5-2D7C-512D-5AC1-08C36E03A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9" y="762000"/>
            <a:ext cx="9911702" cy="478984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1FC5BD2-7DE9-552C-10F1-6B2D23A0D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551" y="6019774"/>
            <a:ext cx="2645298" cy="99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61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371221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-25" dirty="0"/>
              <a:t>Perché</a:t>
            </a:r>
            <a:r>
              <a:rPr sz="3600" spc="-10" dirty="0"/>
              <a:t> </a:t>
            </a:r>
            <a:r>
              <a:rPr sz="3600" spc="-20" dirty="0"/>
              <a:t>lo</a:t>
            </a:r>
            <a:r>
              <a:rPr sz="3600" spc="5" dirty="0"/>
              <a:t> </a:t>
            </a:r>
            <a:r>
              <a:rPr sz="3600" spc="-10" dirty="0"/>
              <a:t>si</a:t>
            </a:r>
            <a:r>
              <a:rPr sz="3600" spc="5" dirty="0"/>
              <a:t> </a:t>
            </a:r>
            <a:r>
              <a:rPr sz="3600" spc="-25" dirty="0"/>
              <a:t>utilizza?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3869" y="2512517"/>
            <a:ext cx="8004809" cy="270764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620"/>
              </a:spcBef>
            </a:pPr>
            <a:r>
              <a:rPr sz="2150" spc="-5" dirty="0">
                <a:latin typeface="Calibri"/>
                <a:cs typeface="Calibri"/>
              </a:rPr>
              <a:t>Il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machine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learning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aiuta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le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aziende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dare un</a:t>
            </a:r>
            <a:r>
              <a:rPr sz="2150" spc="-5" dirty="0">
                <a:latin typeface="Calibri"/>
                <a:cs typeface="Calibri"/>
              </a:rPr>
              <a:t> senso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ai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loro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dati, 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indipendentemente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dalla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loro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dimensione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dal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settore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di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mercato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in cui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operano.</a:t>
            </a:r>
            <a:endParaRPr sz="2150" dirty="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15" dirty="0">
                <a:latin typeface="Calibri"/>
                <a:cs typeface="Calibri"/>
              </a:rPr>
              <a:t>Comprendere </a:t>
            </a:r>
            <a:r>
              <a:rPr sz="2150" spc="-10" dirty="0">
                <a:latin typeface="Calibri"/>
                <a:cs typeface="Calibri"/>
              </a:rPr>
              <a:t>velocemente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le</a:t>
            </a:r>
            <a:r>
              <a:rPr sz="2150" spc="-10" dirty="0">
                <a:latin typeface="Calibri"/>
                <a:cs typeface="Calibri"/>
              </a:rPr>
              <a:t> informazioni</a:t>
            </a:r>
            <a:endParaRPr sz="2150" dirty="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20" dirty="0">
                <a:latin typeface="Calibri"/>
                <a:cs typeface="Calibri"/>
              </a:rPr>
              <a:t>Mostrare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</a:t>
            </a:r>
            <a:r>
              <a:rPr sz="2150" spc="-15" dirty="0">
                <a:latin typeface="Calibri"/>
                <a:cs typeface="Calibri"/>
              </a:rPr>
              <a:t> fenomeni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che</a:t>
            </a:r>
            <a:r>
              <a:rPr sz="2150" spc="-10" dirty="0">
                <a:latin typeface="Calibri"/>
                <a:cs typeface="Calibri"/>
              </a:rPr>
              <a:t> determinano </a:t>
            </a:r>
            <a:r>
              <a:rPr sz="2150" spc="-5" dirty="0">
                <a:latin typeface="Calibri"/>
                <a:cs typeface="Calibri"/>
              </a:rPr>
              <a:t>certi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andamenti</a:t>
            </a:r>
            <a:endParaRPr sz="2150" dirty="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15" dirty="0">
                <a:latin typeface="Calibri"/>
                <a:cs typeface="Calibri"/>
              </a:rPr>
              <a:t>Evidenziare </a:t>
            </a:r>
            <a:r>
              <a:rPr sz="2150" spc="-5" dirty="0">
                <a:latin typeface="Calibri"/>
                <a:cs typeface="Calibri"/>
              </a:rPr>
              <a:t>i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trend</a:t>
            </a:r>
            <a:r>
              <a:rPr sz="2150" spc="-10" dirty="0">
                <a:latin typeface="Calibri"/>
                <a:cs typeface="Calibri"/>
              </a:rPr>
              <a:t> emergenti</a:t>
            </a:r>
            <a:endParaRPr sz="2150" dirty="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Identificare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relazioni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e </a:t>
            </a:r>
            <a:r>
              <a:rPr sz="2150" spc="-20" dirty="0">
                <a:latin typeface="Calibri"/>
                <a:cs typeface="Calibri"/>
              </a:rPr>
              <a:t>pattern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nascosti</a:t>
            </a:r>
            <a:endParaRPr sz="2150" dirty="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10" dirty="0">
                <a:latin typeface="Calibri"/>
                <a:cs typeface="Calibri"/>
              </a:rPr>
              <a:t>Condividere </a:t>
            </a:r>
            <a:r>
              <a:rPr sz="2150" spc="-5" dirty="0">
                <a:latin typeface="Calibri"/>
                <a:cs typeface="Calibri"/>
              </a:rPr>
              <a:t>le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proprie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scoperte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con</a:t>
            </a:r>
            <a:r>
              <a:rPr sz="2150" spc="-5" dirty="0">
                <a:latin typeface="Calibri"/>
                <a:cs typeface="Calibri"/>
              </a:rPr>
              <a:t> gli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altri</a:t>
            </a:r>
            <a:endParaRPr sz="21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Carattere, cerchio">
            <a:extLst>
              <a:ext uri="{FF2B5EF4-FFF2-40B4-BE49-F238E27FC236}">
                <a16:creationId xmlns:a16="http://schemas.microsoft.com/office/drawing/2014/main" id="{8E259146-EAA4-1752-BE4D-12E21296D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46" y="228600"/>
            <a:ext cx="9373908" cy="707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89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9816" y="4066032"/>
            <a:ext cx="4154423" cy="24262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1" y="1350263"/>
            <a:ext cx="4971287" cy="2055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76088" y="1430250"/>
            <a:ext cx="4550664" cy="22791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giocattolo, torta di compleanno, interno&#10;&#10;Il contenuto generato dall'IA potrebbe non essere corretto.">
            <a:extLst>
              <a:ext uri="{FF2B5EF4-FFF2-40B4-BE49-F238E27FC236}">
                <a16:creationId xmlns:a16="http://schemas.microsoft.com/office/drawing/2014/main" id="{A3E2FAD1-6665-4CB2-48F3-3A03C6CD5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6223"/>
            <a:ext cx="8991600" cy="725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56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37360"/>
            <a:ext cx="6569964" cy="431444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847105" y="3361944"/>
            <a:ext cx="553720" cy="1062355"/>
          </a:xfrm>
          <a:custGeom>
            <a:avLst/>
            <a:gdLst/>
            <a:ahLst/>
            <a:cxnLst/>
            <a:rect l="l" t="t" r="r" b="b"/>
            <a:pathLst>
              <a:path w="553720" h="1062354">
                <a:moveTo>
                  <a:pt x="19400" y="166211"/>
                </a:moveTo>
                <a:lnTo>
                  <a:pt x="853" y="131611"/>
                </a:lnTo>
                <a:lnTo>
                  <a:pt x="0" y="107727"/>
                </a:lnTo>
                <a:lnTo>
                  <a:pt x="112" y="100944"/>
                </a:lnTo>
                <a:lnTo>
                  <a:pt x="12257" y="64769"/>
                </a:lnTo>
                <a:lnTo>
                  <a:pt x="53190" y="39859"/>
                </a:lnTo>
                <a:lnTo>
                  <a:pt x="94553" y="23812"/>
                </a:lnTo>
                <a:lnTo>
                  <a:pt x="144568" y="10632"/>
                </a:lnTo>
                <a:lnTo>
                  <a:pt x="200590" y="1797"/>
                </a:lnTo>
                <a:lnTo>
                  <a:pt x="239714" y="0"/>
                </a:lnTo>
                <a:lnTo>
                  <a:pt x="279289" y="1519"/>
                </a:lnTo>
                <a:lnTo>
                  <a:pt x="349830" y="13273"/>
                </a:lnTo>
                <a:lnTo>
                  <a:pt x="408980" y="36276"/>
                </a:lnTo>
                <a:lnTo>
                  <a:pt x="457597" y="67956"/>
                </a:lnTo>
                <a:lnTo>
                  <a:pt x="493732" y="105155"/>
                </a:lnTo>
                <a:lnTo>
                  <a:pt x="222092" y="105155"/>
                </a:lnTo>
                <a:lnTo>
                  <a:pt x="200625" y="105816"/>
                </a:lnTo>
                <a:lnTo>
                  <a:pt x="161763" y="110674"/>
                </a:lnTo>
                <a:lnTo>
                  <a:pt x="113281" y="125063"/>
                </a:lnTo>
                <a:lnTo>
                  <a:pt x="74818" y="141809"/>
                </a:lnTo>
                <a:lnTo>
                  <a:pt x="35783" y="163163"/>
                </a:lnTo>
                <a:lnTo>
                  <a:pt x="28309" y="166115"/>
                </a:lnTo>
                <a:lnTo>
                  <a:pt x="22925" y="166115"/>
                </a:lnTo>
                <a:lnTo>
                  <a:pt x="19400" y="166211"/>
                </a:lnTo>
                <a:close/>
              </a:path>
              <a:path w="553720" h="1062354">
                <a:moveTo>
                  <a:pt x="228569" y="792480"/>
                </a:moveTo>
                <a:lnTo>
                  <a:pt x="186945" y="789432"/>
                </a:lnTo>
                <a:lnTo>
                  <a:pt x="182278" y="787622"/>
                </a:lnTo>
                <a:lnTo>
                  <a:pt x="177706" y="785907"/>
                </a:lnTo>
                <a:lnTo>
                  <a:pt x="174372" y="783431"/>
                </a:lnTo>
                <a:lnTo>
                  <a:pt x="170181" y="777335"/>
                </a:lnTo>
                <a:lnTo>
                  <a:pt x="169133" y="773810"/>
                </a:lnTo>
                <a:lnTo>
                  <a:pt x="169131" y="769524"/>
                </a:lnTo>
                <a:lnTo>
                  <a:pt x="164561" y="557974"/>
                </a:lnTo>
                <a:lnTo>
                  <a:pt x="173039" y="515969"/>
                </a:lnTo>
                <a:lnTo>
                  <a:pt x="210567" y="498443"/>
                </a:lnTo>
                <a:lnTo>
                  <a:pt x="219711" y="498348"/>
                </a:lnTo>
                <a:lnTo>
                  <a:pt x="236570" y="498348"/>
                </a:lnTo>
                <a:lnTo>
                  <a:pt x="260591" y="497419"/>
                </a:lnTo>
                <a:lnTo>
                  <a:pt x="303168" y="489561"/>
                </a:lnTo>
                <a:lnTo>
                  <a:pt x="338528" y="474112"/>
                </a:lnTo>
                <a:lnTo>
                  <a:pt x="378779" y="440626"/>
                </a:lnTo>
                <a:lnTo>
                  <a:pt x="404858" y="396103"/>
                </a:lnTo>
                <a:lnTo>
                  <a:pt x="418093" y="342685"/>
                </a:lnTo>
                <a:lnTo>
                  <a:pt x="420593" y="304895"/>
                </a:lnTo>
                <a:lnTo>
                  <a:pt x="419825" y="283410"/>
                </a:lnTo>
                <a:lnTo>
                  <a:pt x="413682" y="243119"/>
                </a:lnTo>
                <a:lnTo>
                  <a:pt x="401409" y="206650"/>
                </a:lnTo>
                <a:lnTo>
                  <a:pt x="371540" y="161162"/>
                </a:lnTo>
                <a:lnTo>
                  <a:pt x="327606" y="128011"/>
                </a:lnTo>
                <a:lnTo>
                  <a:pt x="290405" y="113527"/>
                </a:lnTo>
                <a:lnTo>
                  <a:pt x="246542" y="106136"/>
                </a:lnTo>
                <a:lnTo>
                  <a:pt x="222092" y="105155"/>
                </a:lnTo>
                <a:lnTo>
                  <a:pt x="493732" y="105155"/>
                </a:lnTo>
                <a:lnTo>
                  <a:pt x="524334" y="154590"/>
                </a:lnTo>
                <a:lnTo>
                  <a:pt x="542854" y="207899"/>
                </a:lnTo>
                <a:lnTo>
                  <a:pt x="552037" y="264725"/>
                </a:lnTo>
                <a:lnTo>
                  <a:pt x="553181" y="294227"/>
                </a:lnTo>
                <a:lnTo>
                  <a:pt x="551985" y="327107"/>
                </a:lnTo>
                <a:lnTo>
                  <a:pt x="542412" y="387011"/>
                </a:lnTo>
                <a:lnTo>
                  <a:pt x="523516" y="439233"/>
                </a:lnTo>
                <a:lnTo>
                  <a:pt x="496759" y="483810"/>
                </a:lnTo>
                <a:lnTo>
                  <a:pt x="462487" y="520633"/>
                </a:lnTo>
                <a:lnTo>
                  <a:pt x="421235" y="549416"/>
                </a:lnTo>
                <a:lnTo>
                  <a:pt x="373282" y="570080"/>
                </a:lnTo>
                <a:lnTo>
                  <a:pt x="319809" y="582301"/>
                </a:lnTo>
                <a:lnTo>
                  <a:pt x="291053" y="585215"/>
                </a:lnTo>
                <a:lnTo>
                  <a:pt x="285624" y="769524"/>
                </a:lnTo>
                <a:lnTo>
                  <a:pt x="285624" y="777335"/>
                </a:lnTo>
                <a:lnTo>
                  <a:pt x="281147" y="783050"/>
                </a:lnTo>
                <a:lnTo>
                  <a:pt x="272194" y="786860"/>
                </a:lnTo>
                <a:lnTo>
                  <a:pt x="264427" y="789359"/>
                </a:lnTo>
                <a:lnTo>
                  <a:pt x="254561" y="791134"/>
                </a:lnTo>
                <a:lnTo>
                  <a:pt x="242605" y="792177"/>
                </a:lnTo>
                <a:lnTo>
                  <a:pt x="228569" y="792480"/>
                </a:lnTo>
                <a:close/>
              </a:path>
              <a:path w="553720" h="1062354">
                <a:moveTo>
                  <a:pt x="28068" y="166211"/>
                </a:moveTo>
                <a:lnTo>
                  <a:pt x="22925" y="166115"/>
                </a:lnTo>
                <a:lnTo>
                  <a:pt x="28309" y="166115"/>
                </a:lnTo>
                <a:lnTo>
                  <a:pt x="28068" y="166211"/>
                </a:lnTo>
                <a:close/>
              </a:path>
              <a:path w="553720" h="1062354">
                <a:moveTo>
                  <a:pt x="230855" y="1062227"/>
                </a:moveTo>
                <a:lnTo>
                  <a:pt x="190850" y="1058037"/>
                </a:lnTo>
                <a:lnTo>
                  <a:pt x="157739" y="1031652"/>
                </a:lnTo>
                <a:lnTo>
                  <a:pt x="149536" y="986813"/>
                </a:lnTo>
                <a:lnTo>
                  <a:pt x="149321" y="974598"/>
                </a:lnTo>
                <a:lnTo>
                  <a:pt x="149536" y="962507"/>
                </a:lnTo>
                <a:lnTo>
                  <a:pt x="154856" y="923913"/>
                </a:lnTo>
                <a:lnTo>
                  <a:pt x="183507" y="893735"/>
                </a:lnTo>
                <a:lnTo>
                  <a:pt x="230855" y="886968"/>
                </a:lnTo>
                <a:lnTo>
                  <a:pt x="241964" y="887289"/>
                </a:lnTo>
                <a:lnTo>
                  <a:pt x="283838" y="896885"/>
                </a:lnTo>
                <a:lnTo>
                  <a:pt x="307436" y="932021"/>
                </a:lnTo>
                <a:lnTo>
                  <a:pt x="310865" y="974598"/>
                </a:lnTo>
                <a:lnTo>
                  <a:pt x="310651" y="986813"/>
                </a:lnTo>
                <a:lnTo>
                  <a:pt x="302519" y="1031652"/>
                </a:lnTo>
                <a:lnTo>
                  <a:pt x="269717" y="1058037"/>
                </a:lnTo>
                <a:lnTo>
                  <a:pt x="230855" y="1062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34478F51-3476-7914-AC47-74C0CEB17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86" y="207168"/>
            <a:ext cx="9794427" cy="735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51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7CE1A-A402-3DB1-9655-04F6F21B2A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54" r="2756"/>
          <a:stretch/>
        </p:blipFill>
        <p:spPr>
          <a:xfrm>
            <a:off x="5105400" y="1468055"/>
            <a:ext cx="4840106" cy="4609375"/>
          </a:xfrm>
          <a:prstGeom prst="rect">
            <a:avLst/>
          </a:prstGeom>
        </p:spPr>
      </p:pic>
      <p:pic>
        <p:nvPicPr>
          <p:cNvPr id="4" name="Immagine 3" descr="Immagine che contiene muro, interno, testo, Viso umano&#10;&#10;Descrizione generata automaticamente">
            <a:extLst>
              <a:ext uri="{FF2B5EF4-FFF2-40B4-BE49-F238E27FC236}">
                <a16:creationId xmlns:a16="http://schemas.microsoft.com/office/drawing/2014/main" id="{B0EFEFA6-8EF4-3BFF-B664-C5D7B6C56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4" y="1219200"/>
            <a:ext cx="4769486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07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two people sitting at a desk&#10;&#10;Description automatically generated">
            <a:extLst>
              <a:ext uri="{FF2B5EF4-FFF2-40B4-BE49-F238E27FC236}">
                <a16:creationId xmlns:a16="http://schemas.microsoft.com/office/drawing/2014/main" id="{344E159D-A8EB-D305-F9CB-3D07D17D82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3"/>
          <a:stretch/>
        </p:blipFill>
        <p:spPr>
          <a:xfrm>
            <a:off x="979594" y="64576"/>
            <a:ext cx="8099211" cy="772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902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381000"/>
            <a:ext cx="5156856" cy="681942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96982" y="1367190"/>
            <a:ext cx="5949950" cy="5123180"/>
            <a:chOff x="2096982" y="1367190"/>
            <a:chExt cx="5949950" cy="51231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6982" y="1367190"/>
              <a:ext cx="5949757" cy="512259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5000" y="3352800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2150364" y="320040"/>
                  </a:moveTo>
                  <a:lnTo>
                    <a:pt x="0" y="320040"/>
                  </a:lnTo>
                  <a:lnTo>
                    <a:pt x="0" y="0"/>
                  </a:lnTo>
                  <a:lnTo>
                    <a:pt x="2150364" y="0"/>
                  </a:lnTo>
                  <a:lnTo>
                    <a:pt x="2150364" y="320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0" y="3352800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0" y="0"/>
                  </a:moveTo>
                  <a:lnTo>
                    <a:pt x="2150364" y="0"/>
                  </a:lnTo>
                  <a:lnTo>
                    <a:pt x="2150364" y="320040"/>
                  </a:lnTo>
                  <a:lnTo>
                    <a:pt x="0" y="32004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76032" y="1336721"/>
            <a:ext cx="5928995" cy="4871720"/>
            <a:chOff x="2076032" y="1336721"/>
            <a:chExt cx="5928995" cy="48717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6032" y="1336721"/>
              <a:ext cx="5928807" cy="4871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5000" y="3331464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2150364" y="320039"/>
                  </a:moveTo>
                  <a:lnTo>
                    <a:pt x="0" y="320039"/>
                  </a:lnTo>
                  <a:lnTo>
                    <a:pt x="0" y="0"/>
                  </a:lnTo>
                  <a:lnTo>
                    <a:pt x="2150364" y="0"/>
                  </a:lnTo>
                  <a:lnTo>
                    <a:pt x="2150364" y="3200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0" y="3331464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0" y="0"/>
                  </a:moveTo>
                  <a:lnTo>
                    <a:pt x="2150364" y="0"/>
                  </a:lnTo>
                  <a:lnTo>
                    <a:pt x="2150364" y="320039"/>
                  </a:lnTo>
                  <a:lnTo>
                    <a:pt x="0" y="320039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02520" y="1357868"/>
            <a:ext cx="6034405" cy="5112385"/>
            <a:chOff x="2002520" y="1357868"/>
            <a:chExt cx="6034405" cy="51123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2520" y="1357868"/>
              <a:ext cx="6033931" cy="51120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04331" y="3331464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2150364" y="320039"/>
                  </a:moveTo>
                  <a:lnTo>
                    <a:pt x="0" y="320039"/>
                  </a:lnTo>
                  <a:lnTo>
                    <a:pt x="0" y="0"/>
                  </a:lnTo>
                  <a:lnTo>
                    <a:pt x="2150364" y="0"/>
                  </a:lnTo>
                  <a:lnTo>
                    <a:pt x="2150364" y="3200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04331" y="3331464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0" y="0"/>
                  </a:moveTo>
                  <a:lnTo>
                    <a:pt x="2150364" y="0"/>
                  </a:lnTo>
                  <a:lnTo>
                    <a:pt x="2150364" y="320039"/>
                  </a:lnTo>
                  <a:lnTo>
                    <a:pt x="0" y="320039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17773" y="1397501"/>
            <a:ext cx="5951220" cy="4589145"/>
            <a:chOff x="2017773" y="1397501"/>
            <a:chExt cx="5951220" cy="45891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7773" y="1397501"/>
              <a:ext cx="5951036" cy="45887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5000" y="3424427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2150364" y="320040"/>
                  </a:moveTo>
                  <a:lnTo>
                    <a:pt x="0" y="320040"/>
                  </a:lnTo>
                  <a:lnTo>
                    <a:pt x="0" y="0"/>
                  </a:lnTo>
                  <a:lnTo>
                    <a:pt x="2150364" y="0"/>
                  </a:lnTo>
                  <a:lnTo>
                    <a:pt x="2150364" y="320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0" y="3424427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0" y="0"/>
                  </a:moveTo>
                  <a:lnTo>
                    <a:pt x="2150364" y="0"/>
                  </a:lnTo>
                  <a:lnTo>
                    <a:pt x="2150364" y="320040"/>
                  </a:lnTo>
                  <a:lnTo>
                    <a:pt x="0" y="32004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39098" y="1420340"/>
            <a:ext cx="5950585" cy="4264025"/>
            <a:chOff x="2039098" y="1420340"/>
            <a:chExt cx="5950585" cy="42640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9098" y="1420340"/>
              <a:ext cx="5950298" cy="426363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4999" y="3424427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2150364" y="320040"/>
                  </a:moveTo>
                  <a:lnTo>
                    <a:pt x="0" y="320040"/>
                  </a:lnTo>
                  <a:lnTo>
                    <a:pt x="0" y="0"/>
                  </a:lnTo>
                  <a:lnTo>
                    <a:pt x="2150364" y="0"/>
                  </a:lnTo>
                  <a:lnTo>
                    <a:pt x="2150364" y="320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4999" y="3424427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0" y="0"/>
                  </a:moveTo>
                  <a:lnTo>
                    <a:pt x="2150364" y="0"/>
                  </a:lnTo>
                  <a:lnTo>
                    <a:pt x="2150364" y="320040"/>
                  </a:lnTo>
                  <a:lnTo>
                    <a:pt x="0" y="32004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9869" y="1431036"/>
            <a:ext cx="6109335" cy="4861560"/>
            <a:chOff x="1959869" y="1431036"/>
            <a:chExt cx="6109335" cy="4861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9869" y="1431036"/>
              <a:ext cx="6108751" cy="48609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5000" y="3424427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2150364" y="320040"/>
                  </a:moveTo>
                  <a:lnTo>
                    <a:pt x="0" y="320040"/>
                  </a:lnTo>
                  <a:lnTo>
                    <a:pt x="0" y="0"/>
                  </a:lnTo>
                  <a:lnTo>
                    <a:pt x="2150364" y="0"/>
                  </a:lnTo>
                  <a:lnTo>
                    <a:pt x="2150364" y="320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0" y="3424427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0" y="0"/>
                  </a:moveTo>
                  <a:lnTo>
                    <a:pt x="2150364" y="0"/>
                  </a:lnTo>
                  <a:lnTo>
                    <a:pt x="2150364" y="320040"/>
                  </a:lnTo>
                  <a:lnTo>
                    <a:pt x="0" y="32004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04049" y="1478482"/>
            <a:ext cx="5950585" cy="4789170"/>
            <a:chOff x="2004049" y="1478482"/>
            <a:chExt cx="5950585" cy="47891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4049" y="1478482"/>
              <a:ext cx="5950473" cy="4788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5000" y="3424427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2150364" y="320040"/>
                  </a:moveTo>
                  <a:lnTo>
                    <a:pt x="0" y="320040"/>
                  </a:lnTo>
                  <a:lnTo>
                    <a:pt x="0" y="0"/>
                  </a:lnTo>
                  <a:lnTo>
                    <a:pt x="2150364" y="0"/>
                  </a:lnTo>
                  <a:lnTo>
                    <a:pt x="2150364" y="320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5000" y="3424427"/>
              <a:ext cx="2150745" cy="320040"/>
            </a:xfrm>
            <a:custGeom>
              <a:avLst/>
              <a:gdLst/>
              <a:ahLst/>
              <a:cxnLst/>
              <a:rect l="l" t="t" r="r" b="b"/>
              <a:pathLst>
                <a:path w="2150745" h="320039">
                  <a:moveTo>
                    <a:pt x="0" y="0"/>
                  </a:moveTo>
                  <a:lnTo>
                    <a:pt x="2150364" y="0"/>
                  </a:lnTo>
                  <a:lnTo>
                    <a:pt x="2150364" y="320040"/>
                  </a:lnTo>
                  <a:lnTo>
                    <a:pt x="0" y="32004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273304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-20" dirty="0"/>
              <a:t>Requirements: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3936" y="2533947"/>
            <a:ext cx="8397240" cy="29114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Comprendere </a:t>
            </a:r>
            <a:r>
              <a:rPr sz="2300" dirty="0">
                <a:latin typeface="Calibri"/>
                <a:cs typeface="Calibri"/>
              </a:rPr>
              <a:t>i </a:t>
            </a:r>
            <a:r>
              <a:rPr sz="2300" spc="-5" dirty="0">
                <a:latin typeface="Calibri"/>
                <a:cs typeface="Calibri"/>
              </a:rPr>
              <a:t>dati </a:t>
            </a:r>
            <a:r>
              <a:rPr sz="2300" spc="5" dirty="0">
                <a:latin typeface="Calibri"/>
                <a:cs typeface="Calibri"/>
              </a:rPr>
              <a:t>che </a:t>
            </a:r>
            <a:r>
              <a:rPr sz="2300" dirty="0">
                <a:latin typeface="Calibri"/>
                <a:cs typeface="Calibri"/>
              </a:rPr>
              <a:t>desideri </a:t>
            </a:r>
            <a:r>
              <a:rPr sz="2300" spc="-5" dirty="0">
                <a:latin typeface="Calibri"/>
                <a:cs typeface="Calibri"/>
              </a:rPr>
              <a:t>elaborare, </a:t>
            </a:r>
            <a:r>
              <a:rPr sz="2300" dirty="0">
                <a:latin typeface="Calibri"/>
                <a:cs typeface="Calibri"/>
              </a:rPr>
              <a:t>incluse </a:t>
            </a:r>
            <a:r>
              <a:rPr sz="2300" spc="5" dirty="0">
                <a:latin typeface="Calibri"/>
                <a:cs typeface="Calibri"/>
              </a:rPr>
              <a:t>le </a:t>
            </a:r>
            <a:r>
              <a:rPr sz="2300" spc="-5" dirty="0">
                <a:latin typeface="Calibri"/>
                <a:cs typeface="Calibri"/>
              </a:rPr>
              <a:t>loro </a:t>
            </a:r>
            <a:r>
              <a:rPr sz="2300" dirty="0">
                <a:latin typeface="Calibri"/>
                <a:cs typeface="Calibri"/>
              </a:rPr>
              <a:t>dimensioni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 cardinalità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(l'unicità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dei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valori </a:t>
            </a:r>
            <a:r>
              <a:rPr sz="2300" dirty="0">
                <a:latin typeface="Calibri"/>
                <a:cs typeface="Calibri"/>
              </a:rPr>
              <a:t>dei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dati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in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una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colonna).</a:t>
            </a:r>
            <a:endParaRPr sz="2300">
              <a:latin typeface="Calibri"/>
              <a:cs typeface="Calibri"/>
            </a:endParaRPr>
          </a:p>
          <a:p>
            <a:pPr marL="201295" marR="119380" indent="-189230">
              <a:lnSpc>
                <a:spcPts val="2500"/>
              </a:lnSpc>
              <a:spcBef>
                <a:spcPts val="819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Determinare cosa </a:t>
            </a:r>
            <a:r>
              <a:rPr sz="2300" spc="-15" dirty="0">
                <a:latin typeface="Calibri"/>
                <a:cs typeface="Calibri"/>
              </a:rPr>
              <a:t>stai </a:t>
            </a:r>
            <a:r>
              <a:rPr sz="2300" dirty="0">
                <a:latin typeface="Calibri"/>
                <a:cs typeface="Calibri"/>
              </a:rPr>
              <a:t>processando </a:t>
            </a:r>
            <a:r>
              <a:rPr sz="2300" spc="5" dirty="0">
                <a:latin typeface="Calibri"/>
                <a:cs typeface="Calibri"/>
              </a:rPr>
              <a:t>e </a:t>
            </a:r>
            <a:r>
              <a:rPr sz="2300" dirty="0">
                <a:latin typeface="Calibri"/>
                <a:cs typeface="Calibri"/>
              </a:rPr>
              <a:t>quale </a:t>
            </a:r>
            <a:r>
              <a:rPr sz="2300" spc="5" dirty="0">
                <a:latin typeface="Calibri"/>
                <a:cs typeface="Calibri"/>
              </a:rPr>
              <a:t>tipo </a:t>
            </a:r>
            <a:r>
              <a:rPr sz="2300" spc="-5" dirty="0">
                <a:latin typeface="Calibri"/>
                <a:cs typeface="Calibri"/>
              </a:rPr>
              <a:t>di informazioni </a:t>
            </a:r>
            <a:r>
              <a:rPr sz="2300" spc="5" dirty="0">
                <a:latin typeface="Calibri"/>
                <a:cs typeface="Calibri"/>
              </a:rPr>
              <a:t>vuoi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estrapolare.</a:t>
            </a:r>
            <a:endParaRPr sz="2300">
              <a:latin typeface="Calibri"/>
              <a:cs typeface="Calibri"/>
            </a:endParaRPr>
          </a:p>
          <a:p>
            <a:pPr marL="201295" marR="1475740" indent="-189230">
              <a:lnSpc>
                <a:spcPts val="2500"/>
              </a:lnSpc>
              <a:spcBef>
                <a:spcPts val="80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Conoscere </a:t>
            </a:r>
            <a:r>
              <a:rPr sz="2300" spc="5" dirty="0">
                <a:latin typeface="Calibri"/>
                <a:cs typeface="Calibri"/>
              </a:rPr>
              <a:t>la tua </a:t>
            </a:r>
            <a:r>
              <a:rPr sz="2300" dirty="0">
                <a:latin typeface="Calibri"/>
                <a:cs typeface="Calibri"/>
              </a:rPr>
              <a:t>audience </a:t>
            </a:r>
            <a:r>
              <a:rPr sz="2300" spc="5" dirty="0">
                <a:latin typeface="Calibri"/>
                <a:cs typeface="Calibri"/>
              </a:rPr>
              <a:t>e </a:t>
            </a:r>
            <a:r>
              <a:rPr sz="2300" spc="-5" dirty="0">
                <a:latin typeface="Calibri"/>
                <a:cs typeface="Calibri"/>
              </a:rPr>
              <a:t>comprendere </a:t>
            </a:r>
            <a:r>
              <a:rPr sz="2300" dirty="0">
                <a:latin typeface="Calibri"/>
                <a:cs typeface="Calibri"/>
              </a:rPr>
              <a:t>come </a:t>
            </a:r>
            <a:r>
              <a:rPr sz="2300" spc="-5" dirty="0">
                <a:latin typeface="Calibri"/>
                <a:cs typeface="Calibri"/>
              </a:rPr>
              <a:t>elabora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l'informazione,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</a:t>
            </a:r>
            <a:r>
              <a:rPr sz="2300" spc="-5" dirty="0">
                <a:latin typeface="Calibri"/>
                <a:cs typeface="Calibri"/>
              </a:rPr>
              <a:t> cosa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aspetta.</a:t>
            </a:r>
            <a:endParaRPr sz="2300">
              <a:latin typeface="Calibri"/>
              <a:cs typeface="Calibri"/>
            </a:endParaRPr>
          </a:p>
          <a:p>
            <a:pPr marL="201295" marR="569595" indent="-189230">
              <a:lnSpc>
                <a:spcPts val="2500"/>
              </a:lnSpc>
              <a:spcBef>
                <a:spcPts val="819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10" dirty="0">
                <a:latin typeface="Calibri"/>
                <a:cs typeface="Calibri"/>
              </a:rPr>
              <a:t>Utilizzare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una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visualizzazione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che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trasmetta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le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informazioni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nella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maniera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più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appropriata </a:t>
            </a:r>
            <a:r>
              <a:rPr sz="2300" spc="5" dirty="0">
                <a:latin typeface="Calibri"/>
                <a:cs typeface="Calibri"/>
              </a:rPr>
              <a:t>e</a:t>
            </a:r>
            <a:r>
              <a:rPr sz="2300" dirty="0">
                <a:latin typeface="Calibri"/>
                <a:cs typeface="Calibri"/>
              </a:rPr>
              <a:t> semplice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 </a:t>
            </a:r>
            <a:r>
              <a:rPr sz="2300" spc="5" dirty="0">
                <a:latin typeface="Calibri"/>
                <a:cs typeface="Calibri"/>
              </a:rPr>
              <a:t>tua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audience.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48F52A7-7F7E-7829-F215-51A4C08C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793" y="36095"/>
            <a:ext cx="5778813" cy="76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95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304800"/>
            <a:ext cx="9188196" cy="6347459"/>
            <a:chOff x="275843" y="-9145"/>
            <a:chExt cx="9188196" cy="63474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843" y="-9145"/>
              <a:ext cx="5183123" cy="2628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6243" y="2962655"/>
              <a:ext cx="5987796" cy="33756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462280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spc="-40" dirty="0"/>
              <a:t>Evitare</a:t>
            </a:r>
            <a:r>
              <a:rPr sz="3600" spc="-25" dirty="0"/>
              <a:t> </a:t>
            </a:r>
            <a:r>
              <a:rPr sz="3600" spc="-20" dirty="0"/>
              <a:t>Errori</a:t>
            </a:r>
            <a:r>
              <a:rPr sz="3600" spc="-15" dirty="0"/>
              <a:t> Grossolani!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3411" y="2414016"/>
            <a:ext cx="5006339" cy="389077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687" y="2181455"/>
            <a:ext cx="7149731" cy="361841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A6A14BB-ECB1-57B6-5724-1E7BBFDC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97706"/>
            <a:ext cx="8600732" cy="392434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784BEF2-A199-B466-FD7C-AC185014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306" y="0"/>
            <a:ext cx="5385788" cy="369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437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36" y="1213104"/>
            <a:ext cx="4114799" cy="53675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3979" y="2566416"/>
            <a:ext cx="4340351" cy="218846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0" y="2366010"/>
            <a:ext cx="3049524" cy="3040379"/>
          </a:xfrm>
          <a:prstGeom prst="rect">
            <a:avLst/>
          </a:prstGeom>
        </p:spPr>
      </p:pic>
      <p:pic>
        <p:nvPicPr>
          <p:cNvPr id="1026" name="Picture 2" descr="Octoverse 2024 - top programming languages">
            <a:extLst>
              <a:ext uri="{FF2B5EF4-FFF2-40B4-BE49-F238E27FC236}">
                <a16:creationId xmlns:a16="http://schemas.microsoft.com/office/drawing/2014/main" id="{90328273-B9D9-BB34-2773-49FFE38AD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81000"/>
            <a:ext cx="66960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" y="1301495"/>
            <a:ext cx="8871203" cy="457352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9671" y="1539240"/>
            <a:ext cx="3226308" cy="2205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943" y="1539240"/>
            <a:ext cx="6013703" cy="30601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65348" y="4770120"/>
            <a:ext cx="4401312" cy="186232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331" y="1613916"/>
            <a:ext cx="5076444" cy="34731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56616" y="2005039"/>
            <a:ext cx="3648710" cy="26409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4305" indent="-14224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154940" algn="l"/>
              </a:tabLst>
            </a:pPr>
            <a:r>
              <a:rPr sz="1300" b="1" spc="10" dirty="0">
                <a:latin typeface="Calibri"/>
                <a:cs typeface="Calibri"/>
              </a:rPr>
              <a:t>Python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is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Easy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300">
              <a:latin typeface="Calibri"/>
              <a:cs typeface="Calibri"/>
            </a:endParaRPr>
          </a:p>
          <a:p>
            <a:pPr marL="154305" indent="-142240">
              <a:lnSpc>
                <a:spcPct val="100000"/>
              </a:lnSpc>
              <a:buFont typeface="Arial MT"/>
              <a:buChar char="•"/>
              <a:tabLst>
                <a:tab pos="154940" algn="l"/>
              </a:tabLst>
            </a:pPr>
            <a:r>
              <a:rPr sz="1300" b="1" dirty="0">
                <a:latin typeface="Calibri"/>
                <a:cs typeface="Calibri"/>
              </a:rPr>
              <a:t>More</a:t>
            </a:r>
            <a:r>
              <a:rPr sz="1300" b="1" spc="5" dirty="0">
                <a:latin typeface="Calibri"/>
                <a:cs typeface="Calibri"/>
              </a:rPr>
              <a:t> Functions </a:t>
            </a:r>
            <a:r>
              <a:rPr sz="1300" b="1" spc="10" dirty="0">
                <a:latin typeface="Calibri"/>
                <a:cs typeface="Calibri"/>
              </a:rPr>
              <a:t>–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spc="5" dirty="0">
                <a:latin typeface="Calibri"/>
                <a:cs typeface="Calibri"/>
              </a:rPr>
              <a:t>Less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spc="5" dirty="0">
                <a:latin typeface="Calibri"/>
                <a:cs typeface="Calibri"/>
              </a:rPr>
              <a:t>Code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300">
              <a:latin typeface="Calibri"/>
              <a:cs typeface="Calibri"/>
            </a:endParaRPr>
          </a:p>
          <a:p>
            <a:pPr marL="154305" indent="-142240">
              <a:lnSpc>
                <a:spcPct val="100000"/>
              </a:lnSpc>
              <a:buFont typeface="Arial MT"/>
              <a:buChar char="•"/>
              <a:tabLst>
                <a:tab pos="154940" algn="l"/>
              </a:tabLst>
            </a:pPr>
            <a:r>
              <a:rPr sz="1300" b="1" spc="-5" dirty="0">
                <a:latin typeface="Calibri"/>
                <a:cs typeface="Calibri"/>
              </a:rPr>
              <a:t>Perfect</a:t>
            </a:r>
            <a:r>
              <a:rPr sz="1300" b="1" dirty="0">
                <a:latin typeface="Calibri"/>
                <a:cs typeface="Calibri"/>
              </a:rPr>
              <a:t> </a:t>
            </a:r>
            <a:r>
              <a:rPr sz="1300" b="1" spc="5" dirty="0">
                <a:latin typeface="Calibri"/>
                <a:cs typeface="Calibri"/>
              </a:rPr>
              <a:t>Language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b="1" spc="-5" dirty="0">
                <a:latin typeface="Calibri"/>
                <a:cs typeface="Calibri"/>
              </a:rPr>
              <a:t>for</a:t>
            </a:r>
            <a:r>
              <a:rPr sz="1300" b="1" spc="5" dirty="0">
                <a:latin typeface="Calibri"/>
                <a:cs typeface="Calibri"/>
              </a:rPr>
              <a:t> Building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b="1" spc="5" dirty="0">
                <a:latin typeface="Calibri"/>
                <a:cs typeface="Calibri"/>
              </a:rPr>
              <a:t>Prototypes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300">
              <a:latin typeface="Calibri"/>
              <a:cs typeface="Calibri"/>
            </a:endParaRPr>
          </a:p>
          <a:p>
            <a:pPr marL="154305" indent="-142240">
              <a:lnSpc>
                <a:spcPct val="100000"/>
              </a:lnSpc>
              <a:buFont typeface="Arial MT"/>
              <a:buChar char="•"/>
              <a:tabLst>
                <a:tab pos="154940" algn="l"/>
              </a:tabLst>
            </a:pPr>
            <a:r>
              <a:rPr sz="1300" b="1" spc="-5" dirty="0">
                <a:latin typeface="Calibri"/>
                <a:cs typeface="Calibri"/>
              </a:rPr>
              <a:t>Great</a:t>
            </a:r>
            <a:r>
              <a:rPr sz="1300" b="1" dirty="0">
                <a:latin typeface="Calibri"/>
                <a:cs typeface="Calibri"/>
              </a:rPr>
              <a:t> Flexibility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300">
              <a:latin typeface="Calibri"/>
              <a:cs typeface="Calibri"/>
            </a:endParaRPr>
          </a:p>
          <a:p>
            <a:pPr marL="154305" indent="-14224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54940" algn="l"/>
              </a:tabLst>
            </a:pPr>
            <a:r>
              <a:rPr sz="1300" b="1" spc="-5" dirty="0">
                <a:latin typeface="Calibri"/>
                <a:cs typeface="Calibri"/>
              </a:rPr>
              <a:t>Perfect</a:t>
            </a:r>
            <a:r>
              <a:rPr sz="1300" b="1" spc="5" dirty="0">
                <a:latin typeface="Calibri"/>
                <a:cs typeface="Calibri"/>
              </a:rPr>
              <a:t> Language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in case</a:t>
            </a:r>
            <a:r>
              <a:rPr sz="1300" b="1" spc="5" dirty="0">
                <a:latin typeface="Calibri"/>
                <a:cs typeface="Calibri"/>
              </a:rPr>
              <a:t> </a:t>
            </a:r>
            <a:r>
              <a:rPr sz="1300" b="1" spc="-5" dirty="0">
                <a:latin typeface="Calibri"/>
                <a:cs typeface="Calibri"/>
              </a:rPr>
              <a:t>you’re</a:t>
            </a:r>
            <a:r>
              <a:rPr sz="1300" b="1" spc="30" dirty="0">
                <a:latin typeface="Calibri"/>
                <a:cs typeface="Calibri"/>
              </a:rPr>
              <a:t> </a:t>
            </a:r>
            <a:r>
              <a:rPr sz="1300" b="1" spc="5" dirty="0">
                <a:latin typeface="Calibri"/>
                <a:cs typeface="Calibri"/>
              </a:rPr>
              <a:t>on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b="1" spc="5" dirty="0">
                <a:latin typeface="Calibri"/>
                <a:cs typeface="Calibri"/>
              </a:rPr>
              <a:t>a</a:t>
            </a:r>
            <a:r>
              <a:rPr sz="1300" b="1" dirty="0">
                <a:latin typeface="Calibri"/>
                <a:cs typeface="Calibri"/>
              </a:rPr>
              <a:t> Budget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300">
              <a:latin typeface="Calibri"/>
              <a:cs typeface="Calibri"/>
            </a:endParaRPr>
          </a:p>
          <a:p>
            <a:pPr marL="154305" indent="-142240">
              <a:lnSpc>
                <a:spcPct val="100000"/>
              </a:lnSpc>
              <a:buFont typeface="Arial MT"/>
              <a:buChar char="•"/>
              <a:tabLst>
                <a:tab pos="154940" algn="l"/>
              </a:tabLst>
            </a:pPr>
            <a:r>
              <a:rPr sz="1300" b="1" spc="5" dirty="0">
                <a:latin typeface="Calibri"/>
                <a:cs typeface="Calibri"/>
              </a:rPr>
              <a:t>The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Internet</a:t>
            </a:r>
            <a:r>
              <a:rPr sz="1300" b="1" spc="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of</a:t>
            </a:r>
            <a:r>
              <a:rPr sz="1300" b="1" spc="3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Things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(IoT)</a:t>
            </a:r>
            <a:r>
              <a:rPr sz="1300" b="1" spc="5" dirty="0">
                <a:latin typeface="Calibri"/>
                <a:cs typeface="Calibri"/>
              </a:rPr>
              <a:t> </a:t>
            </a:r>
            <a:r>
              <a:rPr sz="1300" b="1" spc="10" dirty="0">
                <a:latin typeface="Calibri"/>
                <a:cs typeface="Calibri"/>
              </a:rPr>
              <a:t>+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b="1" spc="10" dirty="0">
                <a:latin typeface="Calibri"/>
                <a:cs typeface="Calibri"/>
              </a:rPr>
              <a:t>Python </a:t>
            </a:r>
            <a:r>
              <a:rPr sz="1300" b="1" dirty="0">
                <a:latin typeface="Calibri"/>
                <a:cs typeface="Calibri"/>
              </a:rPr>
              <a:t>Combination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300">
              <a:latin typeface="Calibri"/>
              <a:cs typeface="Calibri"/>
            </a:endParaRPr>
          </a:p>
          <a:p>
            <a:pPr marL="154305" indent="-142240">
              <a:lnSpc>
                <a:spcPct val="100000"/>
              </a:lnSpc>
              <a:buFont typeface="Arial MT"/>
              <a:buChar char="•"/>
              <a:tabLst>
                <a:tab pos="154940" algn="l"/>
              </a:tabLst>
            </a:pPr>
            <a:r>
              <a:rPr sz="1300" b="1" spc="10" dirty="0">
                <a:latin typeface="Calibri"/>
                <a:cs typeface="Calibri"/>
              </a:rPr>
              <a:t>A</a:t>
            </a:r>
            <a:r>
              <a:rPr sz="1300" b="1" spc="5" dirty="0">
                <a:latin typeface="Calibri"/>
                <a:cs typeface="Calibri"/>
              </a:rPr>
              <a:t> Lot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spc="5" dirty="0">
                <a:latin typeface="Calibri"/>
                <a:cs typeface="Calibri"/>
              </a:rPr>
              <a:t>of</a:t>
            </a:r>
            <a:r>
              <a:rPr sz="1300" b="1" dirty="0">
                <a:latin typeface="Calibri"/>
                <a:cs typeface="Calibri"/>
              </a:rPr>
              <a:t> </a:t>
            </a:r>
            <a:r>
              <a:rPr sz="1300" b="1" spc="5" dirty="0">
                <a:latin typeface="Calibri"/>
                <a:cs typeface="Calibri"/>
              </a:rPr>
              <a:t>useful</a:t>
            </a:r>
            <a:r>
              <a:rPr sz="1300" b="1" spc="-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Frameworks</a:t>
            </a:r>
            <a:r>
              <a:rPr sz="1300" b="1" spc="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(Django,Flask)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275" y="1871472"/>
            <a:ext cx="3959351" cy="29321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8441" y="2294720"/>
            <a:ext cx="5340900" cy="237786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F5DDC22D-8F3C-2B2C-5BFA-84D0CFC87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50479"/>
            <a:ext cx="7310451" cy="687144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241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Words>439</Words>
  <Application>Microsoft Office PowerPoint</Application>
  <PresentationFormat>Personalizzato</PresentationFormat>
  <Paragraphs>54</Paragraphs>
  <Slides>66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66</vt:i4>
      </vt:variant>
    </vt:vector>
  </HeadingPairs>
  <TitlesOfParts>
    <vt:vector size="74" baseType="lpstr">
      <vt:lpstr>Aptos</vt:lpstr>
      <vt:lpstr>Arial</vt:lpstr>
      <vt:lpstr>Arial MT</vt:lpstr>
      <vt:lpstr>Calibri</vt:lpstr>
      <vt:lpstr>Dosis</vt:lpstr>
      <vt:lpstr>Rajdhani</vt:lpstr>
      <vt:lpstr>Tahoma</vt:lpstr>
      <vt:lpstr>Office Theme</vt:lpstr>
      <vt:lpstr>Presentazione standard di PowerPoint</vt:lpstr>
      <vt:lpstr>Presentazione standard di PowerPoint</vt:lpstr>
      <vt:lpstr>Definizione di dati</vt:lpstr>
      <vt:lpstr>Presentazione standard di PowerPoint</vt:lpstr>
      <vt:lpstr>Presentazione standard di PowerPoint</vt:lpstr>
      <vt:lpstr>Definizione di informazione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SUPERVISIONATO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Perché lo si utilizza?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Requirements:</vt:lpstr>
      <vt:lpstr>Presentazione standard di PowerPoint</vt:lpstr>
      <vt:lpstr>Presentazione standard di PowerPoint</vt:lpstr>
      <vt:lpstr>Evitare Errori Grossolani!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- 00_intro_ML.pptx</dc:title>
  <dc:creator>Daniele</dc:creator>
  <cp:lastModifiedBy>Daniele Grotti</cp:lastModifiedBy>
  <cp:revision>27</cp:revision>
  <dcterms:created xsi:type="dcterms:W3CDTF">2023-10-17T17:22:35Z</dcterms:created>
  <dcterms:modified xsi:type="dcterms:W3CDTF">2025-03-02T09:18:41Z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2023-10-17T00:00:00Z</vt:filetime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2024-02-28T15:50:30Z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610de372-5ad4-43e8-a170-e1aaab8af83a</vt:lpwstr>
  </property>
  <property fmtid="{D5CDD505-2E9C-101B-9397-08002B2CF9AE}" pid="9" name="MSIP_Label_defa4170-0d19-0005-0004-bc88714345d2_ActionId">
    <vt:lpwstr>202080e3-ff19-4057-a84a-0f4e05004516</vt:lpwstr>
  </property>
  <property fmtid="{D5CDD505-2E9C-101B-9397-08002B2CF9AE}" pid="10" name="MSIP_Label_defa4170-0d19-0005-0004-bc88714345d2_ContentBits">
    <vt:lpwstr>0</vt:lpwstr>
  </property>
</Properties>
</file>